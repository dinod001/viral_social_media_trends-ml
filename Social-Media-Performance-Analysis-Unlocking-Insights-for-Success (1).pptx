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3" r:id="rId6"/>
    <p:sldId id="267" r:id="rId7"/>
    <p:sldId id="268" r:id="rId8"/>
    <p:sldId id="269" r:id="rId9"/>
    <p:sldId id="270" r:id="rId10"/>
    <p:sldId id="274" r:id="rId11"/>
    <p:sldId id="271" r:id="rId12"/>
    <p:sldId id="273" r:id="rId13"/>
    <p:sldId id="272" r:id="rId14"/>
    <p:sldId id="260" r:id="rId15"/>
    <p:sldId id="275" r:id="rId16"/>
  </p:sldIdLst>
  <p:sldSz cx="14630400" cy="8229600"/>
  <p:notesSz cx="8229600" cy="14630400"/>
  <p:embeddedFontLst>
    <p:embeddedFont>
      <p:font typeface="Cabin" panose="020B0604020202020204" charset="0"/>
      <p:regular r:id="rId18"/>
    </p:embeddedFont>
    <p:embeddedFont>
      <p:font typeface="Nunito Semi Bold" panose="020B0604020202020204" charset="0"/>
      <p:regular r:id="rId19"/>
    </p:embeddedFont>
    <p:embeddedFont>
      <p:font typeface="Unbounde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4" d="100"/>
          <a:sy n="54" d="100"/>
        </p:scale>
        <p:origin x="94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295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D60BC-D20C-CC85-2FAD-6B5214B84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B8EE13-4BA0-8322-3582-CFE1E1DF02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789363-02DE-32F5-28CA-55399D0AE4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EFA635-EEA7-04F7-3268-90095733D0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261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64646-CE0D-3B6D-1D9C-494A6A74B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6CE30F-2F89-E030-9F44-1F45013395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ED8EF5-A36B-2C5A-4122-B8439D8C12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C4F2FB-A5DE-3242-A15A-CAB6D773C6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15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3215A-D7B1-5EFA-2BD7-147FDB5EB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2B465C-2E27-7C39-223C-67D89E22E8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B50EF0-03BD-EBF8-3152-177F24945F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4F0A5-283D-C9B6-BF84-CFE7EECC23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2408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9DE6F-4236-88BC-FD4D-E4C632B1B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0AABDF-7622-B702-19D8-604F3F80B5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664F4E-07A6-4BF0-4371-EC31C32FA5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AD42E5-B268-6BC7-C451-54593C7191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3896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AB691-CAEF-521C-BBE3-A12322B12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7DE20C-5F12-D8AE-1C74-D509785AAE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49AAF0-34CD-69D9-12F0-A6E905EEDF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6B932B-35AC-6B0D-2DB4-088C7EA476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8999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3CD1A-9DEF-28F5-0F1B-2094F067F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76B5DD-9079-0203-3DF9-3B2358C75F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55F66F-EA45-6125-ADFE-BD5470D7F9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B9EEF-C80B-5437-0331-2A5EBA3D28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559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5763D-1272-EABA-B6F7-24B706A02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35960E-3E53-E1D7-5AE0-B07D480E6E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CC5FD9-4508-F95F-A174-906038C874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8F90E0-D45C-1B84-4302-5F84CDDFD1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821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BF6AC-BD28-24D6-F6B1-46CFFBC5C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2F2A36-01A9-36FF-4960-6C952A8FF2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6F1FDD-12EE-0FCF-60BE-EF1EC4D40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262750-CEC9-A536-1A09-690D51D9BE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8715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00EBC-2605-A7F6-1CD5-E84DFE8C9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4F401E-282D-6C32-1B32-5C7F49B23E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FA9EE9-C08D-6FB5-D628-DA24B3F46B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68C8C9-EF5A-6906-4951-8FA15659EC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134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4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3058716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Social Media Performance Analysis: Unlocking Insights for Success</a:t>
            </a:r>
            <a:endParaRPr lang="en-US" sz="4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33C40B-5956-1434-784F-2CCB6A504A21}"/>
              </a:ext>
            </a:extLst>
          </p:cNvPr>
          <p:cNvSpPr txBox="1"/>
          <p:nvPr/>
        </p:nvSpPr>
        <p:spPr>
          <a:xfrm>
            <a:off x="6324124" y="5232122"/>
            <a:ext cx="46031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Presented By – Dinod Imanjith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758970-953E-3C44-F33B-F470837F77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56140" y="7714389"/>
            <a:ext cx="2474259" cy="5152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416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7806" y="606028"/>
            <a:ext cx="7601188" cy="1037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050"/>
              </a:lnSpc>
            </a:pPr>
            <a:r>
              <a:rPr lang="en-US" sz="360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Project Overview: Unpacking Social Media Metrics</a:t>
            </a:r>
            <a:endParaRPr lang="en-US" sz="3250" dirty="0"/>
          </a:p>
        </p:txBody>
      </p:sp>
      <p:sp>
        <p:nvSpPr>
          <p:cNvPr id="4" name="Shape 1"/>
          <p:cNvSpPr/>
          <p:nvPr/>
        </p:nvSpPr>
        <p:spPr>
          <a:xfrm>
            <a:off x="6227325" y="4076997"/>
            <a:ext cx="4135875" cy="3041065"/>
          </a:xfrm>
          <a:prstGeom prst="roundRect">
            <a:avLst>
              <a:gd name="adj" fmla="val 5377"/>
            </a:avLst>
          </a:prstGeom>
          <a:solidFill>
            <a:srgbClr val="F3F3FF">
              <a:alpha val="75000"/>
            </a:srgbClr>
          </a:solidFill>
          <a:ln w="30480">
            <a:solidFill>
              <a:srgbClr val="2D4DF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27326" y="4114800"/>
            <a:ext cx="121920" cy="3041065"/>
          </a:xfrm>
          <a:prstGeom prst="roundRect">
            <a:avLst>
              <a:gd name="adj" fmla="val 271164"/>
            </a:avLst>
          </a:prstGeom>
          <a:solidFill>
            <a:srgbClr val="2D4DF2"/>
          </a:solidFill>
          <a:ln/>
        </p:spPr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554DDE-3251-8E36-0C3E-C2382B5A3557}"/>
              </a:ext>
            </a:extLst>
          </p:cNvPr>
          <p:cNvSpPr txBox="1"/>
          <p:nvPr/>
        </p:nvSpPr>
        <p:spPr>
          <a:xfrm>
            <a:off x="6227326" y="1916166"/>
            <a:ext cx="7315200" cy="2352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latin typeface="Cabin" pitchFamily="34" charset="0"/>
                <a:ea typeface="Cabin" pitchFamily="34" charset="-122"/>
                <a:cs typeface="Cabin" pitchFamily="34" charset="-120"/>
              </a:rPr>
              <a:t>This project leveraged a comprehensive dataset of social media metrics across various platforms. Our primary goal was to understand engagement patterns and develop predictive models for future performance.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2000" dirty="0"/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9485F4F2-8091-6018-5BAB-1C8F1BAC60E3}"/>
              </a:ext>
            </a:extLst>
          </p:cNvPr>
          <p:cNvSpPr/>
          <p:nvPr/>
        </p:nvSpPr>
        <p:spPr>
          <a:xfrm>
            <a:off x="6546470" y="4344057"/>
            <a:ext cx="6356152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550"/>
              </a:lnSpc>
              <a:buSzPct val="100000"/>
            </a:pPr>
            <a:r>
              <a:rPr lang="en-US" sz="2000" dirty="0">
                <a:latin typeface="Cabin" pitchFamily="34" charset="0"/>
                <a:ea typeface="Cabin" pitchFamily="34" charset="-122"/>
                <a:cs typeface="Cabin" pitchFamily="34" charset="-120"/>
              </a:rPr>
              <a:t>Exploratory Data Analysis (EDA)</a:t>
            </a:r>
            <a:endParaRPr lang="en-US" sz="2000" dirty="0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A4BD3183-4E5F-342F-7131-4B3106AD5132}"/>
              </a:ext>
            </a:extLst>
          </p:cNvPr>
          <p:cNvSpPr/>
          <p:nvPr/>
        </p:nvSpPr>
        <p:spPr>
          <a:xfrm>
            <a:off x="6781408" y="4720993"/>
            <a:ext cx="6356152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2000" dirty="0">
                <a:latin typeface="Cabin" pitchFamily="34" charset="0"/>
                <a:ea typeface="Cabin" pitchFamily="34" charset="-122"/>
                <a:cs typeface="Cabin" pitchFamily="34" charset="-120"/>
              </a:rPr>
              <a:t>Handling missing values</a:t>
            </a:r>
            <a:endParaRPr lang="en-US" sz="2000" dirty="0"/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62B0D6C1-A614-159B-8C0E-17E8B7DCE727}"/>
              </a:ext>
            </a:extLst>
          </p:cNvPr>
          <p:cNvSpPr/>
          <p:nvPr/>
        </p:nvSpPr>
        <p:spPr>
          <a:xfrm>
            <a:off x="6781408" y="5079517"/>
            <a:ext cx="6356152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2000" dirty="0">
                <a:latin typeface="Cabin" pitchFamily="34" charset="0"/>
                <a:ea typeface="Cabin" pitchFamily="34" charset="-122"/>
                <a:cs typeface="Cabin" pitchFamily="34" charset="-120"/>
              </a:rPr>
              <a:t>Outliers Handling</a:t>
            </a:r>
            <a:endParaRPr lang="en-US" sz="2000" dirty="0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88FA7751-5F47-CFA7-C6DF-177110283649}"/>
              </a:ext>
            </a:extLst>
          </p:cNvPr>
          <p:cNvSpPr/>
          <p:nvPr/>
        </p:nvSpPr>
        <p:spPr>
          <a:xfrm>
            <a:off x="6781408" y="5988274"/>
            <a:ext cx="6356152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2000" dirty="0">
                <a:latin typeface="Cabin" pitchFamily="34" charset="0"/>
                <a:ea typeface="Cabin" pitchFamily="34" charset="-122"/>
                <a:cs typeface="Cabin" pitchFamily="34" charset="-120"/>
              </a:rPr>
              <a:t>Encoding, Scaling and </a:t>
            </a:r>
          </a:p>
          <a:p>
            <a:pPr algn="l">
              <a:lnSpc>
                <a:spcPts val="2550"/>
              </a:lnSpc>
              <a:buSzPct val="100000"/>
            </a:pPr>
            <a:r>
              <a:rPr lang="en-US" sz="2000" dirty="0">
                <a:latin typeface="Cabin" pitchFamily="34" charset="0"/>
                <a:ea typeface="Cabin" pitchFamily="34" charset="-122"/>
                <a:cs typeface="Cabin" pitchFamily="34" charset="-120"/>
              </a:rPr>
              <a:t>     Standardization</a:t>
            </a:r>
            <a:endParaRPr lang="en-US" sz="2000" dirty="0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1A46BC13-582C-075F-232F-67E87492D046}"/>
              </a:ext>
            </a:extLst>
          </p:cNvPr>
          <p:cNvSpPr/>
          <p:nvPr/>
        </p:nvSpPr>
        <p:spPr>
          <a:xfrm>
            <a:off x="6781408" y="5525621"/>
            <a:ext cx="6356152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2000" dirty="0">
                <a:latin typeface="Cabin" pitchFamily="34" charset="0"/>
                <a:ea typeface="Cabin" pitchFamily="34" charset="-122"/>
                <a:cs typeface="Cabin" pitchFamily="34" charset="-120"/>
              </a:rPr>
              <a:t>Feature Engineering</a:t>
            </a:r>
            <a:endParaRPr lang="en-US" sz="2000" dirty="0"/>
          </a:p>
        </p:txBody>
      </p:sp>
      <p:sp>
        <p:nvSpPr>
          <p:cNvPr id="28" name="Shape 1">
            <a:extLst>
              <a:ext uri="{FF2B5EF4-FFF2-40B4-BE49-F238E27FC236}">
                <a16:creationId xmlns:a16="http://schemas.microsoft.com/office/drawing/2014/main" id="{28A9C90B-D881-142C-4F96-9A203E645427}"/>
              </a:ext>
            </a:extLst>
          </p:cNvPr>
          <p:cNvSpPr/>
          <p:nvPr/>
        </p:nvSpPr>
        <p:spPr>
          <a:xfrm>
            <a:off x="10494525" y="4062263"/>
            <a:ext cx="3788927" cy="3041065"/>
          </a:xfrm>
          <a:prstGeom prst="roundRect">
            <a:avLst>
              <a:gd name="adj" fmla="val 5377"/>
            </a:avLst>
          </a:prstGeom>
          <a:solidFill>
            <a:srgbClr val="F3F3FF">
              <a:alpha val="75000"/>
            </a:srgbClr>
          </a:solidFill>
          <a:ln w="30480">
            <a:solidFill>
              <a:srgbClr val="2D4DF2"/>
            </a:solidFill>
            <a:prstDash val="solid"/>
          </a:ln>
        </p:spPr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0BE706B1-89E9-24F1-2D31-A6BF9949EA61}"/>
              </a:ext>
            </a:extLst>
          </p:cNvPr>
          <p:cNvSpPr/>
          <p:nvPr/>
        </p:nvSpPr>
        <p:spPr>
          <a:xfrm>
            <a:off x="10494526" y="4100066"/>
            <a:ext cx="111692" cy="3041065"/>
          </a:xfrm>
          <a:prstGeom prst="roundRect">
            <a:avLst>
              <a:gd name="adj" fmla="val 271164"/>
            </a:avLst>
          </a:prstGeom>
          <a:solidFill>
            <a:srgbClr val="2D4DF2"/>
          </a:solidFill>
          <a:ln/>
        </p:spPr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EFDE069E-81CF-A8FB-4EDF-FA39BBAD0116}"/>
              </a:ext>
            </a:extLst>
          </p:cNvPr>
          <p:cNvSpPr/>
          <p:nvPr/>
        </p:nvSpPr>
        <p:spPr>
          <a:xfrm>
            <a:off x="10838566" y="4713895"/>
            <a:ext cx="6356152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Cabin" pitchFamily="34" charset="0"/>
                <a:ea typeface="Cabin" pitchFamily="34" charset="-122"/>
                <a:cs typeface="Cabin" pitchFamily="34" charset="-120"/>
              </a:rPr>
              <a:t>Regression &amp; Classification</a:t>
            </a:r>
          </a:p>
          <a:p>
            <a:pPr algn="l">
              <a:lnSpc>
                <a:spcPts val="2550"/>
              </a:lnSpc>
              <a:buSzPct val="100000"/>
            </a:pPr>
            <a:r>
              <a:rPr lang="en-US" sz="2000" dirty="0">
                <a:latin typeface="Cabin" pitchFamily="34" charset="0"/>
                <a:ea typeface="Cabin" pitchFamily="34" charset="-122"/>
                <a:cs typeface="Cabin" pitchFamily="34" charset="-120"/>
              </a:rPr>
              <a:t>     Modeling</a:t>
            </a:r>
            <a:endParaRPr lang="en-US" sz="2000" dirty="0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772F051E-C9AA-025E-FA52-1EB2ADCC06B0}"/>
              </a:ext>
            </a:extLst>
          </p:cNvPr>
          <p:cNvSpPr/>
          <p:nvPr/>
        </p:nvSpPr>
        <p:spPr>
          <a:xfrm>
            <a:off x="10838566" y="5432975"/>
            <a:ext cx="6356152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2000" dirty="0">
                <a:latin typeface="Cabin" pitchFamily="34" charset="0"/>
                <a:ea typeface="Cabin" pitchFamily="34" charset="-122"/>
                <a:cs typeface="Cabin" pitchFamily="34" charset="-120"/>
              </a:rPr>
              <a:t>Dimensionality Reduction</a:t>
            </a:r>
            <a:endParaRPr lang="en-US" sz="2000" dirty="0"/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47BD6F3E-72B1-5EEB-3CE5-3ECF9A7A1BD0}"/>
              </a:ext>
            </a:extLst>
          </p:cNvPr>
          <p:cNvSpPr/>
          <p:nvPr/>
        </p:nvSpPr>
        <p:spPr>
          <a:xfrm>
            <a:off x="10691750" y="4311581"/>
            <a:ext cx="6356152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550"/>
              </a:lnSpc>
              <a:buSzPct val="100000"/>
            </a:pPr>
            <a:r>
              <a:rPr lang="en-US" sz="2000" dirty="0">
                <a:latin typeface="Cabin" pitchFamily="34" charset="0"/>
                <a:ea typeface="Cabin" pitchFamily="34" charset="-122"/>
                <a:cs typeface="Cabin" pitchFamily="34" charset="-120"/>
              </a:rPr>
              <a:t> Model Building</a:t>
            </a:r>
            <a:endParaRPr lang="en-US" sz="2000" dirty="0"/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E9A82CCD-05F8-7EC2-22FF-5AEBB97D04EA}"/>
              </a:ext>
            </a:extLst>
          </p:cNvPr>
          <p:cNvSpPr/>
          <p:nvPr/>
        </p:nvSpPr>
        <p:spPr>
          <a:xfrm>
            <a:off x="10838566" y="5825694"/>
            <a:ext cx="6356152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2000" dirty="0">
                <a:latin typeface="Cabin" panose="020B0604020202020204" charset="0"/>
              </a:rPr>
              <a:t>Clustering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B645C0-D336-5BB7-64D8-A52EE62887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56140" y="7714389"/>
            <a:ext cx="2474259" cy="5152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60129"/>
            <a:ext cx="9148167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4400" b="1" dirty="0">
                <a:latin typeface="Cabin" panose="020B0604020202020204" charset="0"/>
              </a:rPr>
              <a:t>EDA</a:t>
            </a:r>
            <a:r>
              <a:rPr lang="en-US" sz="4400" dirty="0">
                <a:latin typeface="Cabin" panose="020B0604020202020204" charset="0"/>
              </a:rPr>
              <a:t> - </a:t>
            </a:r>
            <a:r>
              <a:rPr lang="en-US" sz="4400" b="1" dirty="0">
                <a:latin typeface="Cabin" panose="020B0604020202020204" charset="0"/>
              </a:rPr>
              <a:t>Exploratory Data Analysis</a:t>
            </a:r>
            <a:br>
              <a:rPr lang="en-US" sz="3600" b="1" dirty="0">
                <a:latin typeface="Cabin" panose="020B0604020202020204" charset="0"/>
              </a:rPr>
            </a:br>
            <a:r>
              <a:rPr lang="en-US" sz="3600" dirty="0">
                <a:latin typeface="Cabin" panose="020B0604020202020204" charset="0"/>
                <a:ea typeface="Unbounded" pitchFamily="34" charset="-122"/>
                <a:cs typeface="Unbounded" pitchFamily="34" charset="-120"/>
              </a:rPr>
              <a:t>01. Handling missing values and Outliers</a:t>
            </a:r>
            <a:endParaRPr lang="en-US" sz="3500" dirty="0">
              <a:latin typeface="Cabin" panose="020B0604020202020204" charset="0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621" y="2160151"/>
            <a:ext cx="4831556" cy="4831556"/>
          </a:xfrm>
          <a:prstGeom prst="rect">
            <a:avLst/>
          </a:prstGeom>
        </p:spPr>
      </p:pic>
      <p:sp>
        <p:nvSpPr>
          <p:cNvPr id="8" name="Shape 2">
            <a:extLst>
              <a:ext uri="{FF2B5EF4-FFF2-40B4-BE49-F238E27FC236}">
                <a16:creationId xmlns:a16="http://schemas.microsoft.com/office/drawing/2014/main" id="{0D786299-7BCC-F00A-A0C3-A52832F8CD09}"/>
              </a:ext>
            </a:extLst>
          </p:cNvPr>
          <p:cNvSpPr/>
          <p:nvPr/>
        </p:nvSpPr>
        <p:spPr>
          <a:xfrm>
            <a:off x="602576" y="2428044"/>
            <a:ext cx="6442591" cy="2177100"/>
          </a:xfrm>
          <a:prstGeom prst="roundRect">
            <a:avLst>
              <a:gd name="adj" fmla="val 8578"/>
            </a:avLst>
          </a:prstGeom>
          <a:solidFill>
            <a:schemeClr val="accent1">
              <a:lumMod val="50000"/>
            </a:schemeClr>
          </a:solidFill>
          <a:ln/>
          <a:effectLst>
            <a:softEdge rad="12700"/>
          </a:effectLst>
        </p:spPr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FE6DF622-3571-7BC4-8133-8DDFF4160D1F}"/>
              </a:ext>
            </a:extLst>
          </p:cNvPr>
          <p:cNvSpPr/>
          <p:nvPr/>
        </p:nvSpPr>
        <p:spPr>
          <a:xfrm>
            <a:off x="1053321" y="2749806"/>
            <a:ext cx="654487" cy="654487"/>
          </a:xfrm>
          <a:prstGeom prst="roundRect">
            <a:avLst>
              <a:gd name="adj" fmla="val 13969851"/>
            </a:avLst>
          </a:prstGeom>
          <a:solidFill>
            <a:schemeClr val="accent1">
              <a:lumMod val="50000"/>
            </a:schemeClr>
          </a:solidFill>
          <a:ln/>
        </p:spPr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3A4E0BDF-5DC5-41C6-9C03-AEC596462AE4}"/>
              </a:ext>
            </a:extLst>
          </p:cNvPr>
          <p:cNvSpPr/>
          <p:nvPr/>
        </p:nvSpPr>
        <p:spPr>
          <a:xfrm>
            <a:off x="1620176" y="2811883"/>
            <a:ext cx="3367683" cy="320873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800" b="1" dirty="0">
                <a:solidFill>
                  <a:schemeClr val="bg1"/>
                </a:solidFill>
                <a:cs typeface="Cabin" panose="020B0604020202020204" charset="0"/>
              </a:rPr>
              <a:t>Handling Missing Values</a:t>
            </a: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68FA61AD-F4B3-FD11-E243-88ADF6E32CC7}"/>
              </a:ext>
            </a:extLst>
          </p:cNvPr>
          <p:cNvSpPr/>
          <p:nvPr/>
        </p:nvSpPr>
        <p:spPr>
          <a:xfrm>
            <a:off x="830223" y="3377169"/>
            <a:ext cx="6207443" cy="1046917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chemeClr val="bg2"/>
                </a:solidFill>
                <a:latin typeface="Cabin" panose="020B0604020202020204" charset="0"/>
              </a:rPr>
              <a:t>There were no missing values or duplicate values to be removed</a:t>
            </a:r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F8119D65-CD04-EAB3-3B70-87C700E446C3}"/>
              </a:ext>
            </a:extLst>
          </p:cNvPr>
          <p:cNvSpPr/>
          <p:nvPr/>
        </p:nvSpPr>
        <p:spPr>
          <a:xfrm>
            <a:off x="726077" y="2627148"/>
            <a:ext cx="654487" cy="654487"/>
          </a:xfrm>
          <a:prstGeom prst="roundRect">
            <a:avLst>
              <a:gd name="adj" fmla="val 13969851"/>
            </a:avLst>
          </a:prstGeom>
          <a:solidFill>
            <a:srgbClr val="0A988B"/>
          </a:solidFill>
          <a:ln/>
        </p:spPr>
      </p:sp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82D23D06-CE3E-D6B8-9DEF-9016D9A84F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6100" y="2807052"/>
            <a:ext cx="294442" cy="294442"/>
          </a:xfrm>
          <a:prstGeom prst="rect">
            <a:avLst/>
          </a:prstGeom>
        </p:spPr>
      </p:pic>
      <p:sp>
        <p:nvSpPr>
          <p:cNvPr id="15" name="Shape 2">
            <a:extLst>
              <a:ext uri="{FF2B5EF4-FFF2-40B4-BE49-F238E27FC236}">
                <a16:creationId xmlns:a16="http://schemas.microsoft.com/office/drawing/2014/main" id="{1766F48E-D38B-A9E0-9AA5-F2173C464D6D}"/>
              </a:ext>
            </a:extLst>
          </p:cNvPr>
          <p:cNvSpPr/>
          <p:nvPr/>
        </p:nvSpPr>
        <p:spPr>
          <a:xfrm>
            <a:off x="595075" y="4896976"/>
            <a:ext cx="6442591" cy="2920247"/>
          </a:xfrm>
          <a:prstGeom prst="roundRect">
            <a:avLst>
              <a:gd name="adj" fmla="val 8578"/>
            </a:avLst>
          </a:prstGeom>
          <a:solidFill>
            <a:schemeClr val="accent1">
              <a:lumMod val="50000"/>
            </a:schemeClr>
          </a:solidFill>
          <a:ln/>
          <a:effectLst>
            <a:softEdge rad="12700"/>
          </a:effectLst>
        </p:spPr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D862FC03-C718-7889-42D5-1862944602C1}"/>
              </a:ext>
            </a:extLst>
          </p:cNvPr>
          <p:cNvSpPr/>
          <p:nvPr/>
        </p:nvSpPr>
        <p:spPr>
          <a:xfrm>
            <a:off x="1045820" y="5218739"/>
            <a:ext cx="654487" cy="654487"/>
          </a:xfrm>
          <a:prstGeom prst="roundRect">
            <a:avLst>
              <a:gd name="adj" fmla="val 13969851"/>
            </a:avLst>
          </a:prstGeom>
          <a:solidFill>
            <a:schemeClr val="accent1">
              <a:lumMod val="50000"/>
            </a:schemeClr>
          </a:solidFill>
          <a:ln/>
        </p:spPr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B0B715A4-A5A4-EE3C-8A84-38C05BC7E109}"/>
              </a:ext>
            </a:extLst>
          </p:cNvPr>
          <p:cNvSpPr/>
          <p:nvPr/>
        </p:nvSpPr>
        <p:spPr>
          <a:xfrm>
            <a:off x="1612675" y="5280816"/>
            <a:ext cx="3367683" cy="320873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800" b="1" dirty="0">
                <a:solidFill>
                  <a:schemeClr val="bg1"/>
                </a:solidFill>
                <a:cs typeface="Cabin" panose="020B0604020202020204" charset="0"/>
              </a:rPr>
              <a:t>Handling Outliers</a:t>
            </a:r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C3C35F81-76B7-FB9D-110B-39F25166151F}"/>
              </a:ext>
            </a:extLst>
          </p:cNvPr>
          <p:cNvSpPr/>
          <p:nvPr/>
        </p:nvSpPr>
        <p:spPr>
          <a:xfrm>
            <a:off x="822722" y="5846102"/>
            <a:ext cx="6207443" cy="1046917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square" lIns="0" tIns="0" rIns="0" bIns="0" rtlCol="0" anchor="t"/>
          <a:lstStyle/>
          <a:p>
            <a:pPr>
              <a:lnSpc>
                <a:spcPts val="2700"/>
              </a:lnSpc>
            </a:pPr>
            <a:r>
              <a:rPr lang="en-US" sz="2000" dirty="0">
                <a:solidFill>
                  <a:schemeClr val="bg2"/>
                </a:solidFill>
              </a:rPr>
              <a:t>No statistical outliers were found using IQR or the 3-sigma method. However, using a domain-specific rule checking for items with disproportionately high likes, comments, or shares compared to views helped identify 230 meaningful outliers</a:t>
            </a: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55C5727D-5BD5-9549-EA93-9B7A8526AF86}"/>
              </a:ext>
            </a:extLst>
          </p:cNvPr>
          <p:cNvSpPr/>
          <p:nvPr/>
        </p:nvSpPr>
        <p:spPr>
          <a:xfrm>
            <a:off x="718576" y="5096081"/>
            <a:ext cx="654487" cy="654487"/>
          </a:xfrm>
          <a:prstGeom prst="roundRect">
            <a:avLst>
              <a:gd name="adj" fmla="val 13969851"/>
            </a:avLst>
          </a:prstGeom>
          <a:solidFill>
            <a:srgbClr val="0A988B"/>
          </a:solidFill>
          <a:ln/>
        </p:spPr>
      </p:sp>
      <p:pic>
        <p:nvPicPr>
          <p:cNvPr id="20" name="Image 0" descr="preencoded.png">
            <a:extLst>
              <a:ext uri="{FF2B5EF4-FFF2-40B4-BE49-F238E27FC236}">
                <a16:creationId xmlns:a16="http://schemas.microsoft.com/office/drawing/2014/main" id="{CDE7EF54-F2F4-BD08-E5B4-C7CD894E3B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8599" y="5275985"/>
            <a:ext cx="294442" cy="29444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2712B97-E3D8-1F7D-3DC3-C8BEF3379A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56140" y="7714389"/>
            <a:ext cx="2474259" cy="5152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5081" y="379334"/>
            <a:ext cx="4505920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dirty="0">
                <a:latin typeface="Cabin" panose="020B0604020202020204" charset="0"/>
              </a:rPr>
              <a:t>Data Visualization – Part 01</a:t>
            </a: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4380E337-DA63-2009-7FD8-03FA7AF81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717" y="1131255"/>
            <a:ext cx="4859248" cy="4293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>
            <a:extLst>
              <a:ext uri="{FF2B5EF4-FFF2-40B4-BE49-F238E27FC236}">
                <a16:creationId xmlns:a16="http://schemas.microsoft.com/office/drawing/2014/main" id="{EA11E9C7-4682-96C4-065E-F0CBB3805F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2966" y="1131255"/>
            <a:ext cx="4497541" cy="5782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C365022-BB76-D0D0-494C-7E46004409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0507" y="1223553"/>
            <a:ext cx="4767356" cy="33125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3C5844-63C1-3CB2-4B80-EF4A109BC8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56140" y="7714389"/>
            <a:ext cx="2474259" cy="5152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382" y="604480"/>
            <a:ext cx="7155775" cy="517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50"/>
              </a:lnSpc>
            </a:pPr>
            <a:r>
              <a:rPr lang="en-US" sz="3600" b="1" dirty="0">
                <a:latin typeface="Cabin" panose="020B0604020202020204" charset="0"/>
                <a:ea typeface="Unbounded" pitchFamily="34" charset="-122"/>
                <a:cs typeface="Unbounded" pitchFamily="34" charset="-120"/>
              </a:rPr>
              <a:t>02. Feature Engineering</a:t>
            </a:r>
            <a:endParaRPr lang="en-US" sz="3250" b="1" dirty="0">
              <a:latin typeface="Cabin" panose="020B060402020202020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383" y="1860961"/>
            <a:ext cx="6115512" cy="6115512"/>
          </a:xfrm>
          <a:prstGeom prst="rect">
            <a:avLst/>
          </a:prstGeom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2DAC0876-3963-D7B5-BCFF-1A783B67DAE5}"/>
              </a:ext>
            </a:extLst>
          </p:cNvPr>
          <p:cNvSpPr/>
          <p:nvPr/>
        </p:nvSpPr>
        <p:spPr>
          <a:xfrm>
            <a:off x="769383" y="1261981"/>
            <a:ext cx="13327142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150" dirty="0">
                <a:latin typeface="Cabin" pitchFamily="34" charset="0"/>
                <a:ea typeface="Cabin" pitchFamily="34" charset="-122"/>
                <a:cs typeface="Cabin" pitchFamily="34" charset="-120"/>
              </a:rPr>
              <a:t>To improve signal strength and uncover deeper relationships within the data, we engineered several new features.</a:t>
            </a:r>
            <a:endParaRPr lang="en-US" sz="215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C13E0362-B8B6-A9BC-B8B0-1EB7F8E92C70}"/>
              </a:ext>
            </a:extLst>
          </p:cNvPr>
          <p:cNvSpPr/>
          <p:nvPr/>
        </p:nvSpPr>
        <p:spPr>
          <a:xfrm>
            <a:off x="7088029" y="1741470"/>
            <a:ext cx="6436400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2000" b="1" dirty="0">
                <a:latin typeface="Cabin" pitchFamily="34" charset="0"/>
                <a:ea typeface="Cabin" pitchFamily="34" charset="-122"/>
                <a:cs typeface="Cabin" pitchFamily="34" charset="-120"/>
              </a:rPr>
              <a:t>Like Rate:</a:t>
            </a:r>
            <a:r>
              <a:rPr lang="en-US" sz="2000" dirty="0">
                <a:latin typeface="Cabin" pitchFamily="34" charset="0"/>
                <a:ea typeface="Cabin" pitchFamily="34" charset="-122"/>
                <a:cs typeface="Cabin" pitchFamily="34" charset="-120"/>
              </a:rPr>
              <a:t> Likes per view, indicating content appeal.</a:t>
            </a:r>
            <a:endParaRPr lang="en-US" sz="20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E87701E3-8BC7-8889-B753-E7729A086713}"/>
              </a:ext>
            </a:extLst>
          </p:cNvPr>
          <p:cNvSpPr/>
          <p:nvPr/>
        </p:nvSpPr>
        <p:spPr>
          <a:xfrm>
            <a:off x="7088029" y="2174012"/>
            <a:ext cx="6436400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2000" b="1" dirty="0">
                <a:latin typeface="Cabin" pitchFamily="34" charset="0"/>
                <a:ea typeface="Cabin" pitchFamily="34" charset="-122"/>
                <a:cs typeface="Cabin" pitchFamily="34" charset="-120"/>
              </a:rPr>
              <a:t>Share Rate:</a:t>
            </a:r>
            <a:r>
              <a:rPr lang="en-US" sz="2000" dirty="0">
                <a:latin typeface="Cabin" pitchFamily="34" charset="0"/>
                <a:ea typeface="Cabin" pitchFamily="34" charset="-122"/>
                <a:cs typeface="Cabin" pitchFamily="34" charset="-120"/>
              </a:rPr>
              <a:t> Shares per view, reflecting content virality.</a:t>
            </a:r>
            <a:endParaRPr lang="en-US" sz="2000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C6E81528-F19C-8153-2556-F087388AF12F}"/>
              </a:ext>
            </a:extLst>
          </p:cNvPr>
          <p:cNvSpPr/>
          <p:nvPr/>
        </p:nvSpPr>
        <p:spPr>
          <a:xfrm>
            <a:off x="7088029" y="2789975"/>
            <a:ext cx="6436400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2000" b="1" dirty="0">
                <a:latin typeface="Cabin" pitchFamily="34" charset="0"/>
                <a:ea typeface="Cabin" pitchFamily="34" charset="-122"/>
                <a:cs typeface="Cabin" pitchFamily="34" charset="-120"/>
              </a:rPr>
              <a:t>Comment Rate:</a:t>
            </a:r>
            <a:r>
              <a:rPr lang="en-US" sz="2000" dirty="0">
                <a:latin typeface="Cabin" pitchFamily="34" charset="0"/>
                <a:ea typeface="Cabin" pitchFamily="34" charset="-122"/>
                <a:cs typeface="Cabin" pitchFamily="34" charset="-120"/>
              </a:rPr>
              <a:t> Comments per view, showing audience</a:t>
            </a:r>
          </a:p>
          <a:p>
            <a:pPr algn="l">
              <a:buSzPct val="100000"/>
            </a:pPr>
            <a:r>
              <a:rPr lang="en-US" sz="2000" dirty="0">
                <a:latin typeface="Cabin" pitchFamily="34" charset="0"/>
                <a:ea typeface="Cabin" pitchFamily="34" charset="-122"/>
                <a:cs typeface="Cabin" pitchFamily="34" charset="-120"/>
              </a:rPr>
              <a:t>     interaction.</a:t>
            </a:r>
            <a:endParaRPr lang="en-US" sz="20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2926A15D-DB8C-1E64-5A0F-27BC96A72E1D}"/>
              </a:ext>
            </a:extLst>
          </p:cNvPr>
          <p:cNvSpPr/>
          <p:nvPr/>
        </p:nvSpPr>
        <p:spPr>
          <a:xfrm>
            <a:off x="7088029" y="3448812"/>
            <a:ext cx="6436400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2000" b="1" dirty="0">
                <a:latin typeface="Cabin" pitchFamily="34" charset="0"/>
                <a:ea typeface="Cabin" pitchFamily="34" charset="-122"/>
                <a:cs typeface="Cabin" pitchFamily="34" charset="-120"/>
              </a:rPr>
              <a:t>Engagement Rate:</a:t>
            </a:r>
            <a:r>
              <a:rPr lang="en-US" sz="2000" dirty="0">
                <a:latin typeface="Cabin" pitchFamily="34" charset="0"/>
                <a:ea typeface="Cabin" pitchFamily="34" charset="-122"/>
                <a:cs typeface="Cabin" pitchFamily="34" charset="-120"/>
              </a:rPr>
              <a:t> Combined likes, shares, comments per</a:t>
            </a:r>
          </a:p>
          <a:p>
            <a:pPr algn="l">
              <a:buSzPct val="100000"/>
            </a:pPr>
            <a:r>
              <a:rPr lang="en-US" sz="2000" dirty="0">
                <a:latin typeface="Cabin" pitchFamily="34" charset="0"/>
                <a:ea typeface="Cabin" pitchFamily="34" charset="-122"/>
                <a:cs typeface="Cabin" pitchFamily="34" charset="-120"/>
              </a:rPr>
              <a:t>     view.</a:t>
            </a:r>
            <a:endParaRPr lang="en-US" sz="20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6A775B83-7E8F-255C-17CF-78EBA495748E}"/>
              </a:ext>
            </a:extLst>
          </p:cNvPr>
          <p:cNvSpPr/>
          <p:nvPr/>
        </p:nvSpPr>
        <p:spPr>
          <a:xfrm>
            <a:off x="7088029" y="4226195"/>
            <a:ext cx="6436400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2000" b="1" dirty="0">
                <a:latin typeface="Cabin" pitchFamily="34" charset="0"/>
                <a:ea typeface="Cabin" pitchFamily="34" charset="-122"/>
                <a:cs typeface="Cabin" pitchFamily="34" charset="-120"/>
              </a:rPr>
              <a:t>Total Engagement:</a:t>
            </a:r>
            <a:r>
              <a:rPr lang="en-US" sz="2000" dirty="0">
                <a:latin typeface="Cabin" pitchFamily="34" charset="0"/>
                <a:ea typeface="Cabin" pitchFamily="34" charset="-122"/>
                <a:cs typeface="Cabin" pitchFamily="34" charset="-120"/>
              </a:rPr>
              <a:t> Absolute sum of interactions </a:t>
            </a:r>
          </a:p>
          <a:p>
            <a:pPr algn="l">
              <a:buSzPct val="100000"/>
            </a:pPr>
            <a:r>
              <a:rPr lang="en-US" sz="2000" dirty="0">
                <a:latin typeface="Cabin" pitchFamily="34" charset="0"/>
                <a:ea typeface="Cabin" pitchFamily="34" charset="-122"/>
                <a:cs typeface="Cabin" pitchFamily="34" charset="-120"/>
              </a:rPr>
              <a:t>      (with &amp; without shares).</a:t>
            </a:r>
            <a:endParaRPr lang="en-US" sz="20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E9093F7A-0240-FD09-89DC-9B5A4B8E85A7}"/>
              </a:ext>
            </a:extLst>
          </p:cNvPr>
          <p:cNvSpPr/>
          <p:nvPr/>
        </p:nvSpPr>
        <p:spPr>
          <a:xfrm>
            <a:off x="7088029" y="5040804"/>
            <a:ext cx="6436400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2000" b="1" dirty="0">
                <a:latin typeface="Cabin" pitchFamily="34" charset="0"/>
                <a:ea typeface="Cabin" pitchFamily="34" charset="-122"/>
                <a:cs typeface="Cabin" pitchFamily="34" charset="-120"/>
              </a:rPr>
              <a:t>Platform-Normalized Views:</a:t>
            </a:r>
            <a:r>
              <a:rPr lang="en-US" sz="2000" dirty="0">
                <a:latin typeface="Cabin" pitchFamily="34" charset="0"/>
                <a:ea typeface="Cabin" pitchFamily="34" charset="-122"/>
                <a:cs typeface="Cabin" pitchFamily="34" charset="-120"/>
              </a:rPr>
              <a:t> Adjusting for platform-specific </a:t>
            </a:r>
          </a:p>
          <a:p>
            <a:pPr algn="l">
              <a:buSzPct val="100000"/>
            </a:pPr>
            <a:r>
              <a:rPr lang="en-US" sz="2000" dirty="0">
                <a:latin typeface="Cabin" pitchFamily="34" charset="0"/>
                <a:ea typeface="Cabin" pitchFamily="34" charset="-122"/>
                <a:cs typeface="Cabin" pitchFamily="34" charset="-120"/>
              </a:rPr>
              <a:t>      reach variances.</a:t>
            </a:r>
            <a:endParaRPr lang="en-US" sz="2000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B5E1A740-0152-D088-122A-1B47B4C6C78B}"/>
              </a:ext>
            </a:extLst>
          </p:cNvPr>
          <p:cNvSpPr/>
          <p:nvPr/>
        </p:nvSpPr>
        <p:spPr>
          <a:xfrm>
            <a:off x="7088029" y="5818187"/>
            <a:ext cx="10061916" cy="893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latin typeface="Cabin" pitchFamily="34" charset="0"/>
                <a:ea typeface="Cabin" pitchFamily="34" charset="-122"/>
                <a:cs typeface="Cabin" pitchFamily="34" charset="-120"/>
              </a:rPr>
              <a:t>Purpose:</a:t>
            </a:r>
            <a:r>
              <a:rPr lang="en-US" sz="2000" dirty="0">
                <a:latin typeface="Cabin" pitchFamily="34" charset="0"/>
                <a:ea typeface="Cabin" pitchFamily="34" charset="-122"/>
                <a:cs typeface="Cabin" pitchFamily="34" charset="-120"/>
              </a:rPr>
              <a:t> The goal was to enhance the predictive power of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latin typeface="Cabin" pitchFamily="34" charset="0"/>
                <a:ea typeface="Cabin" pitchFamily="34" charset="-122"/>
                <a:cs typeface="Cabin" pitchFamily="34" charset="-120"/>
              </a:rPr>
              <a:t> models. </a:t>
            </a:r>
            <a:r>
              <a:rPr lang="en-US" sz="2000" b="1" dirty="0">
                <a:latin typeface="Cabin" pitchFamily="34" charset="0"/>
                <a:ea typeface="Cabin" pitchFamily="34" charset="-122"/>
                <a:cs typeface="Cabin" pitchFamily="34" charset="-120"/>
              </a:rPr>
              <a:t>However, relationships still remained weak</a:t>
            </a:r>
            <a:r>
              <a:rPr lang="en-US" sz="2000" dirty="0">
                <a:latin typeface="Cabin" pitchFamily="34" charset="0"/>
                <a:ea typeface="Cabin" pitchFamily="34" charset="-122"/>
                <a:cs typeface="Cabin" pitchFamily="34" charset="-120"/>
              </a:rPr>
              <a:t>, indicating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latin typeface="Cabin" pitchFamily="34" charset="0"/>
                <a:ea typeface="Cabin" pitchFamily="34" charset="-122"/>
                <a:cs typeface="Cabin" pitchFamily="34" charset="-120"/>
              </a:rPr>
              <a:t>inherent challenges with the original dataset's structure.</a:t>
            </a: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284C46-638B-22B2-4691-DF60507404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56140" y="7714389"/>
            <a:ext cx="2474259" cy="5152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8BD4E-D409-E88C-55F0-45DBFAF68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B1D371F-A9B2-CC62-5A40-97CACF546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6140" y="7714389"/>
            <a:ext cx="2474259" cy="515211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503E4EA2-24DA-7ACE-9573-2DF0AD739B1F}"/>
              </a:ext>
            </a:extLst>
          </p:cNvPr>
          <p:cNvSpPr/>
          <p:nvPr/>
        </p:nvSpPr>
        <p:spPr>
          <a:xfrm>
            <a:off x="645081" y="379334"/>
            <a:ext cx="4505920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dirty="0">
                <a:latin typeface="Cabin" panose="020B0604020202020204" charset="0"/>
              </a:rPr>
              <a:t>Data Visualization – Part 02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8629F1-6665-E62A-96C9-CDCC79094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081" y="1201749"/>
            <a:ext cx="6528940" cy="3690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F1C0AAF9-5613-53B2-3C1F-782770072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5835" y="1201749"/>
            <a:ext cx="5738597" cy="3690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1CB8D9AE-1F9B-59E4-9942-71DA06FF74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709" y="1201749"/>
            <a:ext cx="3589033" cy="3690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>
            <a:extLst>
              <a:ext uri="{FF2B5EF4-FFF2-40B4-BE49-F238E27FC236}">
                <a16:creationId xmlns:a16="http://schemas.microsoft.com/office/drawing/2014/main" id="{ED29907D-AD68-21F9-77D7-93E95F315C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593" y="4891913"/>
            <a:ext cx="5042786" cy="2958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0">
            <a:extLst>
              <a:ext uri="{FF2B5EF4-FFF2-40B4-BE49-F238E27FC236}">
                <a16:creationId xmlns:a16="http://schemas.microsoft.com/office/drawing/2014/main" id="{ED2C7EAC-72CC-DC5C-D998-F9D73E8418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6093" y="4891913"/>
            <a:ext cx="5161568" cy="2958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2">
            <a:extLst>
              <a:ext uri="{FF2B5EF4-FFF2-40B4-BE49-F238E27FC236}">
                <a16:creationId xmlns:a16="http://schemas.microsoft.com/office/drawing/2014/main" id="{04B0CBA5-D4CC-C8B1-B92A-6E9E404F5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1393" y="4891912"/>
            <a:ext cx="4315074" cy="2958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3609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04AB9-2DF2-19BB-A221-1C80DDEF4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79367BB-41C9-67A8-D2CE-A7FA2F8C3A8B}"/>
              </a:ext>
            </a:extLst>
          </p:cNvPr>
          <p:cNvSpPr/>
          <p:nvPr/>
        </p:nvSpPr>
        <p:spPr>
          <a:xfrm>
            <a:off x="645081" y="379334"/>
            <a:ext cx="4505920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dirty="0">
                <a:latin typeface="Cabin" panose="020B0604020202020204" charset="0"/>
              </a:rPr>
              <a:t>Data Visualization – Part 02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B7CB78AB-2D10-A0E4-1C82-82F7EC6346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80" y="1095047"/>
            <a:ext cx="5423145" cy="3828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278C794E-7AC3-6E21-4295-FBDCF4F12E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5625" y="1051865"/>
            <a:ext cx="5089054" cy="3828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4BEBA90-CFE2-9CAD-388D-CD5523C6E8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4679" y="1008685"/>
            <a:ext cx="3871753" cy="3915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86A84F1F-03D2-C5F9-6411-94851B453B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7017" y="4753492"/>
            <a:ext cx="3871753" cy="347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8">
            <a:extLst>
              <a:ext uri="{FF2B5EF4-FFF2-40B4-BE49-F238E27FC236}">
                <a16:creationId xmlns:a16="http://schemas.microsoft.com/office/drawing/2014/main" id="{4D173551-ECE7-72AC-3540-2B558F8CB6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80" y="4923790"/>
            <a:ext cx="6966506" cy="3302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6DC6159-D528-99D9-951A-37803BA3014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56140" y="7714389"/>
            <a:ext cx="2474259" cy="515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801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4D507-0B26-6BB0-166A-FEE1974C7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D0C2744-F778-F5A5-74C4-418A39EAA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6140" y="7714389"/>
            <a:ext cx="2474259" cy="515211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AC08D161-C429-7F41-EB2C-4FA30575B940}"/>
              </a:ext>
            </a:extLst>
          </p:cNvPr>
          <p:cNvSpPr/>
          <p:nvPr/>
        </p:nvSpPr>
        <p:spPr>
          <a:xfrm>
            <a:off x="726077" y="522085"/>
            <a:ext cx="9148167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3600" b="1" dirty="0">
                <a:latin typeface="Cabin" panose="020B0604020202020204" charset="0"/>
                <a:ea typeface="Unbounded" pitchFamily="34" charset="-122"/>
                <a:cs typeface="Unbounded" pitchFamily="34" charset="-120"/>
              </a:rPr>
              <a:t>03. Scaling, Encoding &amp; Standardization</a:t>
            </a:r>
            <a:endParaRPr lang="en-US" sz="3500" b="1" dirty="0">
              <a:latin typeface="Cabin" panose="020B0604020202020204" charset="0"/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B7E86400-FA1A-925D-F7E7-A82ABC234B2A}"/>
              </a:ext>
            </a:extLst>
          </p:cNvPr>
          <p:cNvSpPr/>
          <p:nvPr/>
        </p:nvSpPr>
        <p:spPr>
          <a:xfrm>
            <a:off x="587574" y="1727295"/>
            <a:ext cx="6495965" cy="2769690"/>
          </a:xfrm>
          <a:prstGeom prst="roundRect">
            <a:avLst>
              <a:gd name="adj" fmla="val 8578"/>
            </a:avLst>
          </a:prstGeom>
          <a:solidFill>
            <a:schemeClr val="accent1">
              <a:lumMod val="50000"/>
            </a:schemeClr>
          </a:solidFill>
          <a:ln/>
          <a:effectLst>
            <a:softEdge rad="12700"/>
          </a:effectLst>
        </p:spPr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57B8D1E9-CBC9-768C-2268-B37215B38822}"/>
              </a:ext>
            </a:extLst>
          </p:cNvPr>
          <p:cNvSpPr/>
          <p:nvPr/>
        </p:nvSpPr>
        <p:spPr>
          <a:xfrm>
            <a:off x="1038319" y="2049058"/>
            <a:ext cx="654487" cy="654487"/>
          </a:xfrm>
          <a:prstGeom prst="roundRect">
            <a:avLst>
              <a:gd name="adj" fmla="val 13969851"/>
            </a:avLst>
          </a:prstGeom>
          <a:solidFill>
            <a:schemeClr val="accent1">
              <a:lumMod val="50000"/>
            </a:schemeClr>
          </a:solidFill>
          <a:ln/>
        </p:spPr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BBE24429-CF92-5FBF-B342-E617F604F842}"/>
              </a:ext>
            </a:extLst>
          </p:cNvPr>
          <p:cNvSpPr/>
          <p:nvPr/>
        </p:nvSpPr>
        <p:spPr>
          <a:xfrm>
            <a:off x="1605174" y="2111135"/>
            <a:ext cx="3367683" cy="320873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Encoding Categorical Columns</a:t>
            </a: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B151BE8A-AD99-2659-164E-69D53E81969A}"/>
              </a:ext>
            </a:extLst>
          </p:cNvPr>
          <p:cNvSpPr/>
          <p:nvPr/>
        </p:nvSpPr>
        <p:spPr>
          <a:xfrm>
            <a:off x="883598" y="2588681"/>
            <a:ext cx="6199942" cy="1046917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square" lIns="0" tIns="0" rIns="0" bIns="0" rtlCol="0" anchor="t"/>
          <a:lstStyle/>
          <a:p>
            <a:pPr>
              <a:lnSpc>
                <a:spcPts val="2700"/>
              </a:lnSpc>
            </a:pPr>
            <a:r>
              <a:rPr lang="en-US" sz="2000" dirty="0">
                <a:solidFill>
                  <a:schemeClr val="bg1"/>
                </a:solidFill>
              </a:rPr>
              <a:t>Some columns like Platform, Hashtag, </a:t>
            </a:r>
            <a:r>
              <a:rPr lang="en-US" sz="2000" dirty="0" err="1">
                <a:solidFill>
                  <a:schemeClr val="bg1"/>
                </a:solidFill>
              </a:rPr>
              <a:t>Content_Type</a:t>
            </a:r>
            <a:r>
              <a:rPr lang="en-US" sz="2000" dirty="0">
                <a:solidFill>
                  <a:schemeClr val="bg1"/>
                </a:solidFill>
              </a:rPr>
              <a:t>, and Region are text values.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Machine learning models cannot work directly with text, so these columns were converted into numerical form using One-Hot Encoding.</a:t>
            </a:r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BC8D89AF-F178-7528-9C3A-D7A2095989CC}"/>
              </a:ext>
            </a:extLst>
          </p:cNvPr>
          <p:cNvSpPr/>
          <p:nvPr/>
        </p:nvSpPr>
        <p:spPr>
          <a:xfrm>
            <a:off x="711075" y="1926400"/>
            <a:ext cx="654487" cy="654487"/>
          </a:xfrm>
          <a:prstGeom prst="roundRect">
            <a:avLst>
              <a:gd name="adj" fmla="val 13969851"/>
            </a:avLst>
          </a:prstGeom>
          <a:solidFill>
            <a:srgbClr val="0A988B"/>
          </a:solidFill>
          <a:ln/>
        </p:spPr>
      </p:sp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E6E80859-C3CF-81E4-A5A3-62F6D27EEA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1098" y="2106304"/>
            <a:ext cx="294442" cy="294442"/>
          </a:xfrm>
          <a:prstGeom prst="rect">
            <a:avLst/>
          </a:prstGeom>
        </p:spPr>
      </p:pic>
      <p:sp>
        <p:nvSpPr>
          <p:cNvPr id="15" name="Shape 2">
            <a:extLst>
              <a:ext uri="{FF2B5EF4-FFF2-40B4-BE49-F238E27FC236}">
                <a16:creationId xmlns:a16="http://schemas.microsoft.com/office/drawing/2014/main" id="{7154A47A-7FCC-38B7-26D6-5E142288F513}"/>
              </a:ext>
            </a:extLst>
          </p:cNvPr>
          <p:cNvSpPr/>
          <p:nvPr/>
        </p:nvSpPr>
        <p:spPr>
          <a:xfrm>
            <a:off x="648449" y="5042180"/>
            <a:ext cx="6442591" cy="2920247"/>
          </a:xfrm>
          <a:prstGeom prst="roundRect">
            <a:avLst>
              <a:gd name="adj" fmla="val 8578"/>
            </a:avLst>
          </a:prstGeom>
          <a:solidFill>
            <a:schemeClr val="accent1">
              <a:lumMod val="50000"/>
            </a:schemeClr>
          </a:solidFill>
          <a:ln/>
          <a:effectLst>
            <a:softEdge rad="12700"/>
          </a:effectLst>
        </p:spPr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2F027878-2372-CBE2-F2C7-2AB1F9A85243}"/>
              </a:ext>
            </a:extLst>
          </p:cNvPr>
          <p:cNvSpPr/>
          <p:nvPr/>
        </p:nvSpPr>
        <p:spPr>
          <a:xfrm>
            <a:off x="1099194" y="5363943"/>
            <a:ext cx="654487" cy="654487"/>
          </a:xfrm>
          <a:prstGeom prst="roundRect">
            <a:avLst>
              <a:gd name="adj" fmla="val 13969851"/>
            </a:avLst>
          </a:prstGeom>
          <a:solidFill>
            <a:schemeClr val="accent1">
              <a:lumMod val="50000"/>
            </a:schemeClr>
          </a:solidFill>
          <a:ln/>
        </p:spPr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CE54FF65-95C6-F3BE-D03D-AEBA3A25D649}"/>
              </a:ext>
            </a:extLst>
          </p:cNvPr>
          <p:cNvSpPr/>
          <p:nvPr/>
        </p:nvSpPr>
        <p:spPr>
          <a:xfrm>
            <a:off x="1666049" y="5426020"/>
            <a:ext cx="3367683" cy="320873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Ordinal Encoding</a:t>
            </a:r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2941BE5C-E889-25A3-3742-D002D6BD40A4}"/>
              </a:ext>
            </a:extLst>
          </p:cNvPr>
          <p:cNvSpPr/>
          <p:nvPr/>
        </p:nvSpPr>
        <p:spPr>
          <a:xfrm>
            <a:off x="876096" y="5991306"/>
            <a:ext cx="6207443" cy="1311048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square" lIns="0" tIns="0" rIns="0" bIns="0" rtlCol="0" anchor="t"/>
          <a:lstStyle/>
          <a:p>
            <a:pPr>
              <a:lnSpc>
                <a:spcPts val="2700"/>
              </a:lnSpc>
            </a:pPr>
            <a:r>
              <a:rPr lang="en-US" sz="2000" dirty="0">
                <a:solidFill>
                  <a:schemeClr val="bg1"/>
                </a:solidFill>
              </a:rPr>
              <a:t>For classification, the target column Engagement_Level was converted into numeric labels using Ordinal Encoding, because the model requires numbers instead of text labels.</a:t>
            </a:r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269B7C1B-6EE4-67EC-52D2-212FC9855927}"/>
              </a:ext>
            </a:extLst>
          </p:cNvPr>
          <p:cNvSpPr/>
          <p:nvPr/>
        </p:nvSpPr>
        <p:spPr>
          <a:xfrm>
            <a:off x="771950" y="5241285"/>
            <a:ext cx="654487" cy="654487"/>
          </a:xfrm>
          <a:prstGeom prst="roundRect">
            <a:avLst>
              <a:gd name="adj" fmla="val 13969851"/>
            </a:avLst>
          </a:prstGeom>
          <a:solidFill>
            <a:srgbClr val="0A988B"/>
          </a:solidFill>
          <a:ln/>
        </p:spPr>
      </p:sp>
      <p:pic>
        <p:nvPicPr>
          <p:cNvPr id="20" name="Image 0" descr="preencoded.png">
            <a:extLst>
              <a:ext uri="{FF2B5EF4-FFF2-40B4-BE49-F238E27FC236}">
                <a16:creationId xmlns:a16="http://schemas.microsoft.com/office/drawing/2014/main" id="{9B4C21B7-8217-2020-636C-7E14D66354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1973" y="5421189"/>
            <a:ext cx="294442" cy="294442"/>
          </a:xfrm>
          <a:prstGeom prst="rect">
            <a:avLst/>
          </a:prstGeom>
        </p:spPr>
      </p:pic>
      <p:sp>
        <p:nvSpPr>
          <p:cNvPr id="3" name="Shape 2">
            <a:extLst>
              <a:ext uri="{FF2B5EF4-FFF2-40B4-BE49-F238E27FC236}">
                <a16:creationId xmlns:a16="http://schemas.microsoft.com/office/drawing/2014/main" id="{C126FCFE-5C61-CE86-5031-3C54CE6890D5}"/>
              </a:ext>
            </a:extLst>
          </p:cNvPr>
          <p:cNvSpPr/>
          <p:nvPr/>
        </p:nvSpPr>
        <p:spPr>
          <a:xfrm>
            <a:off x="7465908" y="1723333"/>
            <a:ext cx="6442591" cy="2769690"/>
          </a:xfrm>
          <a:prstGeom prst="roundRect">
            <a:avLst>
              <a:gd name="adj" fmla="val 8578"/>
            </a:avLst>
          </a:prstGeom>
          <a:solidFill>
            <a:schemeClr val="accent1">
              <a:lumMod val="50000"/>
            </a:schemeClr>
          </a:solidFill>
          <a:ln/>
          <a:effectLst>
            <a:softEdge rad="12700"/>
          </a:effectLst>
        </p:spPr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4EE22D47-4DD5-5AC0-334E-6DDC33227EEE}"/>
              </a:ext>
            </a:extLst>
          </p:cNvPr>
          <p:cNvSpPr/>
          <p:nvPr/>
        </p:nvSpPr>
        <p:spPr>
          <a:xfrm>
            <a:off x="7916653" y="2045095"/>
            <a:ext cx="654487" cy="654487"/>
          </a:xfrm>
          <a:prstGeom prst="roundRect">
            <a:avLst>
              <a:gd name="adj" fmla="val 13969851"/>
            </a:avLst>
          </a:prstGeom>
          <a:solidFill>
            <a:schemeClr val="accent1">
              <a:lumMod val="50000"/>
            </a:schemeClr>
          </a:solidFill>
          <a:ln/>
        </p:spPr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7CCA17FF-A2BA-07B7-3A09-1B4F71D08228}"/>
              </a:ext>
            </a:extLst>
          </p:cNvPr>
          <p:cNvSpPr/>
          <p:nvPr/>
        </p:nvSpPr>
        <p:spPr>
          <a:xfrm>
            <a:off x="8483508" y="2107172"/>
            <a:ext cx="3367683" cy="320873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Scaling Numerical Columns</a:t>
            </a: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405B21F9-8AC0-8166-F432-1F60A65D944C}"/>
              </a:ext>
            </a:extLst>
          </p:cNvPr>
          <p:cNvSpPr/>
          <p:nvPr/>
        </p:nvSpPr>
        <p:spPr>
          <a:xfrm>
            <a:off x="8056373" y="2584719"/>
            <a:ext cx="5852126" cy="1046917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square" lIns="0" tIns="0" rIns="0" bIns="0" rtlCol="0" anchor="t"/>
          <a:lstStyle/>
          <a:p>
            <a:pPr algn="just">
              <a:lnSpc>
                <a:spcPts val="2700"/>
              </a:lnSpc>
            </a:pPr>
            <a:r>
              <a:rPr lang="en-US" sz="2000" dirty="0">
                <a:solidFill>
                  <a:schemeClr val="bg1"/>
                </a:solidFill>
              </a:rPr>
              <a:t>Numerical columns (such as Views, Likes,</a:t>
            </a:r>
          </a:p>
          <a:p>
            <a:pPr algn="just">
              <a:lnSpc>
                <a:spcPts val="2700"/>
              </a:lnSpc>
            </a:pPr>
            <a:r>
              <a:rPr lang="en-US" sz="2000" dirty="0">
                <a:solidFill>
                  <a:schemeClr val="bg1"/>
                </a:solidFill>
              </a:rPr>
              <a:t> Shares, Comments) were scaled using </a:t>
            </a:r>
          </a:p>
          <a:p>
            <a:pPr algn="just">
              <a:lnSpc>
                <a:spcPts val="2700"/>
              </a:lnSpc>
            </a:pPr>
            <a:r>
              <a:rPr lang="en-US" sz="2000" dirty="0">
                <a:solidFill>
                  <a:schemeClr val="bg1"/>
                </a:solidFill>
              </a:rPr>
              <a:t>Min-Max </a:t>
            </a:r>
            <a:r>
              <a:rPr lang="en-US" sz="2000" dirty="0" err="1">
                <a:solidFill>
                  <a:schemeClr val="bg1"/>
                </a:solidFill>
              </a:rPr>
              <a:t>Scaling.This</a:t>
            </a:r>
            <a:r>
              <a:rPr lang="en-US" sz="2000" dirty="0">
                <a:solidFill>
                  <a:schemeClr val="bg1"/>
                </a:solidFill>
              </a:rPr>
              <a:t> transforms all values </a:t>
            </a:r>
          </a:p>
          <a:p>
            <a:pPr algn="just">
              <a:lnSpc>
                <a:spcPts val="2700"/>
              </a:lnSpc>
            </a:pPr>
            <a:r>
              <a:rPr lang="en-US" sz="2000" dirty="0">
                <a:solidFill>
                  <a:schemeClr val="bg1"/>
                </a:solidFill>
              </a:rPr>
              <a:t>into a range between 0 and 1, which helps </a:t>
            </a:r>
          </a:p>
          <a:p>
            <a:pPr algn="just">
              <a:lnSpc>
                <a:spcPts val="2700"/>
              </a:lnSpc>
            </a:pPr>
            <a:r>
              <a:rPr lang="en-US" sz="2000" dirty="0">
                <a:solidFill>
                  <a:schemeClr val="bg1"/>
                </a:solidFill>
              </a:rPr>
              <a:t>the model learn more effectively.</a:t>
            </a:r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E8D3C2E9-D6DE-1A82-93BA-2748C6D875F1}"/>
              </a:ext>
            </a:extLst>
          </p:cNvPr>
          <p:cNvSpPr/>
          <p:nvPr/>
        </p:nvSpPr>
        <p:spPr>
          <a:xfrm>
            <a:off x="7589409" y="1922437"/>
            <a:ext cx="654487" cy="654487"/>
          </a:xfrm>
          <a:prstGeom prst="roundRect">
            <a:avLst>
              <a:gd name="adj" fmla="val 13969851"/>
            </a:avLst>
          </a:prstGeom>
          <a:solidFill>
            <a:srgbClr val="0A988B"/>
          </a:solidFill>
          <a:ln/>
        </p:spPr>
      </p:sp>
      <p:pic>
        <p:nvPicPr>
          <p:cNvPr id="21" name="Image 0" descr="preencoded.png">
            <a:extLst>
              <a:ext uri="{FF2B5EF4-FFF2-40B4-BE49-F238E27FC236}">
                <a16:creationId xmlns:a16="http://schemas.microsoft.com/office/drawing/2014/main" id="{A59E90F3-041E-0512-8184-8C3EDF173E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69432" y="2102341"/>
            <a:ext cx="294442" cy="294442"/>
          </a:xfrm>
          <a:prstGeom prst="rect">
            <a:avLst/>
          </a:prstGeom>
        </p:spPr>
      </p:pic>
      <p:pic>
        <p:nvPicPr>
          <p:cNvPr id="27" name="Image 0" descr="preencoded.png">
            <a:extLst>
              <a:ext uri="{FF2B5EF4-FFF2-40B4-BE49-F238E27FC236}">
                <a16:creationId xmlns:a16="http://schemas.microsoft.com/office/drawing/2014/main" id="{9BF475F7-DE19-3538-E1BE-C8E29970D0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61931" y="4571274"/>
            <a:ext cx="294442" cy="294442"/>
          </a:xfrm>
          <a:prstGeom prst="rect">
            <a:avLst/>
          </a:prstGeom>
        </p:spPr>
      </p:pic>
      <p:sp>
        <p:nvSpPr>
          <p:cNvPr id="28" name="Shape 2">
            <a:extLst>
              <a:ext uri="{FF2B5EF4-FFF2-40B4-BE49-F238E27FC236}">
                <a16:creationId xmlns:a16="http://schemas.microsoft.com/office/drawing/2014/main" id="{AFB90B0C-0334-079A-3F77-5CC69E53C2D8}"/>
              </a:ext>
            </a:extLst>
          </p:cNvPr>
          <p:cNvSpPr/>
          <p:nvPr/>
        </p:nvSpPr>
        <p:spPr>
          <a:xfrm>
            <a:off x="7465908" y="4943967"/>
            <a:ext cx="6442591" cy="2920247"/>
          </a:xfrm>
          <a:prstGeom prst="roundRect">
            <a:avLst>
              <a:gd name="adj" fmla="val 8578"/>
            </a:avLst>
          </a:prstGeom>
          <a:solidFill>
            <a:schemeClr val="accent1">
              <a:lumMod val="50000"/>
            </a:schemeClr>
          </a:solidFill>
          <a:ln/>
          <a:effectLst>
            <a:softEdge rad="12700"/>
          </a:effectLst>
        </p:spPr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ADA85C8E-3D2F-0ED5-2A63-65730F964CCE}"/>
              </a:ext>
            </a:extLst>
          </p:cNvPr>
          <p:cNvSpPr/>
          <p:nvPr/>
        </p:nvSpPr>
        <p:spPr>
          <a:xfrm>
            <a:off x="7916653" y="5265730"/>
            <a:ext cx="654487" cy="654487"/>
          </a:xfrm>
          <a:prstGeom prst="roundRect">
            <a:avLst>
              <a:gd name="adj" fmla="val 13969851"/>
            </a:avLst>
          </a:prstGeom>
          <a:solidFill>
            <a:schemeClr val="accent1">
              <a:lumMod val="50000"/>
            </a:schemeClr>
          </a:solidFill>
          <a:ln/>
        </p:spPr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BA1D68BA-D373-E02E-84A4-E34E31FBCC13}"/>
              </a:ext>
            </a:extLst>
          </p:cNvPr>
          <p:cNvSpPr/>
          <p:nvPr/>
        </p:nvSpPr>
        <p:spPr>
          <a:xfrm>
            <a:off x="8483508" y="5327807"/>
            <a:ext cx="3367683" cy="320873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80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Standardization</a:t>
            </a:r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941058A9-161F-9827-A28D-2D4777203C58}"/>
              </a:ext>
            </a:extLst>
          </p:cNvPr>
          <p:cNvSpPr/>
          <p:nvPr/>
        </p:nvSpPr>
        <p:spPr>
          <a:xfrm>
            <a:off x="7693555" y="5893093"/>
            <a:ext cx="6060749" cy="1311048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square" lIns="0" tIns="0" rIns="0" bIns="0" rtlCol="0" anchor="t"/>
          <a:lstStyle/>
          <a:p>
            <a:pPr>
              <a:lnSpc>
                <a:spcPts val="2700"/>
              </a:lnSpc>
            </a:pPr>
            <a:r>
              <a:rPr lang="en-US" sz="2000" dirty="0">
                <a:solidFill>
                  <a:schemeClr val="bg1"/>
                </a:solidFill>
              </a:rPr>
              <a:t>Standardization was applied only for the clustering model to scale numerical features to have zero mean and unit variance, which helps distance-based algorithms work properly.</a:t>
            </a:r>
          </a:p>
        </p:txBody>
      </p:sp>
      <p:sp>
        <p:nvSpPr>
          <p:cNvPr id="32" name="Shape 3">
            <a:extLst>
              <a:ext uri="{FF2B5EF4-FFF2-40B4-BE49-F238E27FC236}">
                <a16:creationId xmlns:a16="http://schemas.microsoft.com/office/drawing/2014/main" id="{885DD718-5E09-8D37-C84C-72A81CFD50F1}"/>
              </a:ext>
            </a:extLst>
          </p:cNvPr>
          <p:cNvSpPr/>
          <p:nvPr/>
        </p:nvSpPr>
        <p:spPr>
          <a:xfrm>
            <a:off x="7589409" y="5143072"/>
            <a:ext cx="654487" cy="654487"/>
          </a:xfrm>
          <a:prstGeom prst="roundRect">
            <a:avLst>
              <a:gd name="adj" fmla="val 13969851"/>
            </a:avLst>
          </a:prstGeom>
          <a:solidFill>
            <a:srgbClr val="0A988B"/>
          </a:solidFill>
          <a:ln/>
        </p:spPr>
      </p:sp>
      <p:pic>
        <p:nvPicPr>
          <p:cNvPr id="33" name="Image 0" descr="preencoded.png">
            <a:extLst>
              <a:ext uri="{FF2B5EF4-FFF2-40B4-BE49-F238E27FC236}">
                <a16:creationId xmlns:a16="http://schemas.microsoft.com/office/drawing/2014/main" id="{094CC9A0-EDF2-FA70-B693-1BEF22E16E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69432" y="5322976"/>
            <a:ext cx="294442" cy="294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581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283BD-2CE5-232B-EADA-2BCC067C2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8548DDEC-BAD4-A8D4-2050-B5D4F056A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6C8E09C-84E1-97C3-F250-B0E7AB761E3C}"/>
              </a:ext>
            </a:extLst>
          </p:cNvPr>
          <p:cNvSpPr txBox="1"/>
          <p:nvPr/>
        </p:nvSpPr>
        <p:spPr>
          <a:xfrm>
            <a:off x="5827057" y="2787588"/>
            <a:ext cx="968188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latin typeface="Cabin" panose="020B0604020202020204" charset="0"/>
              </a:rPr>
              <a:t>Model Building</a:t>
            </a:r>
            <a:br>
              <a:rPr lang="en-US" sz="4800" b="1" dirty="0">
                <a:latin typeface="Cabin" panose="020B0604020202020204" charset="0"/>
              </a:rPr>
            </a:br>
            <a:r>
              <a:rPr lang="en-US" sz="4800" b="1" dirty="0">
                <a:latin typeface="Cabin" panose="020B0604020202020204" charset="0"/>
              </a:rPr>
              <a:t>( Regression, Classification, Clustering)</a:t>
            </a:r>
            <a:endParaRPr lang="en-US" sz="4800" dirty="0">
              <a:latin typeface="Cabin" panose="020B060402020202020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E01F6E-21CA-9349-C7B4-CF05538546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56140" y="7714389"/>
            <a:ext cx="2474259" cy="515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285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23B02-84BC-BE42-19D3-754DB4205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10E8D996-5702-522F-18CB-C4DA5014CE86}"/>
              </a:ext>
            </a:extLst>
          </p:cNvPr>
          <p:cNvSpPr txBox="1"/>
          <p:nvPr/>
        </p:nvSpPr>
        <p:spPr>
          <a:xfrm>
            <a:off x="0" y="656925"/>
            <a:ext cx="9681883" cy="5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50"/>
              </a:lnSpc>
            </a:pPr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Regression – ( Predicting Shares 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CE9F591-456D-E530-A2B4-A983D7F097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3343" y="0"/>
            <a:ext cx="5827057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42608D-37EE-30B0-FDD9-555BFBCEDFD4}"/>
              </a:ext>
            </a:extLst>
          </p:cNvPr>
          <p:cNvSpPr txBox="1"/>
          <p:nvPr/>
        </p:nvSpPr>
        <p:spPr>
          <a:xfrm>
            <a:off x="524437" y="2164426"/>
            <a:ext cx="7754470" cy="3900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Trained three different models, Logistic Regression, </a:t>
            </a:r>
            <a:r>
              <a:rPr lang="en-US" sz="280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XGBClassifier</a:t>
            </a:r>
            <a:r>
              <a:rPr lang="en-US" sz="2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lang="en-US" sz="280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RandomForestClassifier</a:t>
            </a:r>
            <a:r>
              <a:rPr lang="en-US" sz="2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using K-Fold cross-validation and </a:t>
            </a:r>
            <a:r>
              <a:rPr lang="en-US" sz="280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GridSearchCV</a:t>
            </a:r>
            <a:r>
              <a:rPr lang="en-US" sz="2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The model evaluation results are measured using Precision, recall, F1 and Confusion matrix: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66210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54176-5B6F-2759-F73B-8781D9A35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C5529E-A880-CBA8-637E-05C8FE877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6140" y="7714389"/>
            <a:ext cx="2474259" cy="515211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6235B7E8-0F10-B8BA-B0C4-9D258E9E18AA}"/>
              </a:ext>
            </a:extLst>
          </p:cNvPr>
          <p:cNvSpPr/>
          <p:nvPr/>
        </p:nvSpPr>
        <p:spPr>
          <a:xfrm>
            <a:off x="533055" y="329093"/>
            <a:ext cx="9148167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3600" b="1" dirty="0">
                <a:latin typeface="Cabin" panose="020B0604020202020204" charset="0"/>
                <a:ea typeface="Calibri" panose="020F0502020204030204" pitchFamily="34" charset="0"/>
                <a:cs typeface="Calibri" panose="020F0502020204030204" pitchFamily="34" charset="0"/>
              </a:rPr>
              <a:t>Classification – ( Predicting Engagement Level )</a:t>
            </a: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50BD18EE-4528-284D-05F9-F4A587C8E3F0}"/>
              </a:ext>
            </a:extLst>
          </p:cNvPr>
          <p:cNvSpPr/>
          <p:nvPr/>
        </p:nvSpPr>
        <p:spPr>
          <a:xfrm>
            <a:off x="18117" y="910688"/>
            <a:ext cx="4244816" cy="631865"/>
          </a:xfrm>
          <a:prstGeom prst="roundRect">
            <a:avLst>
              <a:gd name="adj" fmla="val 480077"/>
            </a:avLst>
          </a:prstGeom>
          <a:solidFill>
            <a:srgbClr val="304755"/>
          </a:solidFill>
          <a:ln/>
        </p:spPr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D5EF1D55-6BEF-21F8-763C-CD892273C008}"/>
              </a:ext>
            </a:extLst>
          </p:cNvPr>
          <p:cNvSpPr/>
          <p:nvPr/>
        </p:nvSpPr>
        <p:spPr>
          <a:xfrm>
            <a:off x="717686" y="1077767"/>
            <a:ext cx="315873" cy="394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50" b="1" dirty="0">
                <a:solidFill>
                  <a:schemeClr val="bg1"/>
                </a:solidFill>
                <a:latin typeface="Cabin" panose="020B0604020202020204" charset="0"/>
              </a:rPr>
              <a:t>Logistic Regression</a:t>
            </a:r>
          </a:p>
        </p:txBody>
      </p:sp>
      <p:sp>
        <p:nvSpPr>
          <p:cNvPr id="25" name="Shape 15">
            <a:extLst>
              <a:ext uri="{FF2B5EF4-FFF2-40B4-BE49-F238E27FC236}">
                <a16:creationId xmlns:a16="http://schemas.microsoft.com/office/drawing/2014/main" id="{6E3EC9D5-FBFD-1FFF-3977-316651C5E74E}"/>
              </a:ext>
            </a:extLst>
          </p:cNvPr>
          <p:cNvSpPr/>
          <p:nvPr/>
        </p:nvSpPr>
        <p:spPr>
          <a:xfrm>
            <a:off x="9681222" y="934410"/>
            <a:ext cx="4073555" cy="631865"/>
          </a:xfrm>
          <a:prstGeom prst="roundRect">
            <a:avLst>
              <a:gd name="adj" fmla="val 480077"/>
            </a:avLst>
          </a:prstGeom>
          <a:solidFill>
            <a:srgbClr val="304755"/>
          </a:solidFill>
          <a:ln/>
        </p:spPr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F3CCC34E-5021-C0E1-BDA3-E20060890E9D}"/>
              </a:ext>
            </a:extLst>
          </p:cNvPr>
          <p:cNvSpPr/>
          <p:nvPr/>
        </p:nvSpPr>
        <p:spPr>
          <a:xfrm>
            <a:off x="9960459" y="1102021"/>
            <a:ext cx="3001768" cy="394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50"/>
              </a:lnSpc>
            </a:pPr>
            <a:r>
              <a:rPr lang="en-US" sz="2450" b="1" dirty="0" err="1">
                <a:solidFill>
                  <a:schemeClr val="bg1"/>
                </a:solidFill>
                <a:latin typeface="Cabin" panose="020B0604020202020204" charset="0"/>
              </a:rPr>
              <a:t>XGBoost</a:t>
            </a:r>
            <a:r>
              <a:rPr lang="en-US" sz="2450" b="1" dirty="0">
                <a:solidFill>
                  <a:schemeClr val="bg1"/>
                </a:solidFill>
                <a:latin typeface="Cabin" panose="020B0604020202020204" charset="0"/>
              </a:rPr>
              <a:t> Classification</a:t>
            </a:r>
          </a:p>
        </p:txBody>
      </p:sp>
      <p:pic>
        <p:nvPicPr>
          <p:cNvPr id="34" name="Picture 6">
            <a:extLst>
              <a:ext uri="{FF2B5EF4-FFF2-40B4-BE49-F238E27FC236}">
                <a16:creationId xmlns:a16="http://schemas.microsoft.com/office/drawing/2014/main" id="{F71A5FF5-B1EF-D91E-3DC9-69E1552EDF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16" y="1765787"/>
            <a:ext cx="4479559" cy="3232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8">
            <a:extLst>
              <a:ext uri="{FF2B5EF4-FFF2-40B4-BE49-F238E27FC236}">
                <a16:creationId xmlns:a16="http://schemas.microsoft.com/office/drawing/2014/main" id="{F6555247-637E-997B-8481-E143C9E21A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3329" y="1723755"/>
            <a:ext cx="4881229" cy="3200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0">
            <a:extLst>
              <a:ext uri="{FF2B5EF4-FFF2-40B4-BE49-F238E27FC236}">
                <a16:creationId xmlns:a16="http://schemas.microsoft.com/office/drawing/2014/main" id="{068C343D-4C53-B292-BC67-572B211C36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4894" y="4998159"/>
            <a:ext cx="5055486" cy="3087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>
            <a:extLst>
              <a:ext uri="{FF2B5EF4-FFF2-40B4-BE49-F238E27FC236}">
                <a16:creationId xmlns:a16="http://schemas.microsoft.com/office/drawing/2014/main" id="{1F2C08D6-4909-E409-6EB8-E1856818CA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0459" y="5077615"/>
            <a:ext cx="4385837" cy="3087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Shape 15">
            <a:extLst>
              <a:ext uri="{FF2B5EF4-FFF2-40B4-BE49-F238E27FC236}">
                <a16:creationId xmlns:a16="http://schemas.microsoft.com/office/drawing/2014/main" id="{41D32824-3470-102B-3EB9-7EF613DE8980}"/>
              </a:ext>
            </a:extLst>
          </p:cNvPr>
          <p:cNvSpPr/>
          <p:nvPr/>
        </p:nvSpPr>
        <p:spPr>
          <a:xfrm>
            <a:off x="4469595" y="910688"/>
            <a:ext cx="5004964" cy="631865"/>
          </a:xfrm>
          <a:prstGeom prst="roundRect">
            <a:avLst>
              <a:gd name="adj" fmla="val 480077"/>
            </a:avLst>
          </a:prstGeom>
          <a:solidFill>
            <a:srgbClr val="304755"/>
          </a:solidFill>
          <a:ln/>
        </p:spPr>
      </p:sp>
      <p:sp>
        <p:nvSpPr>
          <p:cNvPr id="39" name="Text 16">
            <a:extLst>
              <a:ext uri="{FF2B5EF4-FFF2-40B4-BE49-F238E27FC236}">
                <a16:creationId xmlns:a16="http://schemas.microsoft.com/office/drawing/2014/main" id="{926FA5CA-2275-86E9-A065-F892BCA5427D}"/>
              </a:ext>
            </a:extLst>
          </p:cNvPr>
          <p:cNvSpPr/>
          <p:nvPr/>
        </p:nvSpPr>
        <p:spPr>
          <a:xfrm>
            <a:off x="4824590" y="1051511"/>
            <a:ext cx="3001768" cy="394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50"/>
              </a:lnSpc>
            </a:pPr>
            <a:r>
              <a:rPr lang="en-US" sz="2450" b="1" dirty="0">
                <a:solidFill>
                  <a:schemeClr val="bg1"/>
                </a:solidFill>
                <a:latin typeface="Cabin" panose="020B0604020202020204" charset="0"/>
              </a:rPr>
              <a:t>Random Forest Classification</a:t>
            </a:r>
          </a:p>
        </p:txBody>
      </p:sp>
      <p:pic>
        <p:nvPicPr>
          <p:cNvPr id="40" name="Picture 2">
            <a:extLst>
              <a:ext uri="{FF2B5EF4-FFF2-40B4-BE49-F238E27FC236}">
                <a16:creationId xmlns:a16="http://schemas.microsoft.com/office/drawing/2014/main" id="{8F8EF9DD-8899-B255-3F5E-C52AE0CCA8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17" y="1765786"/>
            <a:ext cx="4400956" cy="3190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4">
            <a:extLst>
              <a:ext uri="{FF2B5EF4-FFF2-40B4-BE49-F238E27FC236}">
                <a16:creationId xmlns:a16="http://schemas.microsoft.com/office/drawing/2014/main" id="{6611C33B-7D32-2F67-DC4A-1633DB0B3C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077615"/>
            <a:ext cx="4244816" cy="2928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2628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50D3D-5C04-2B52-05A8-47117EECC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0">
            <a:extLst>
              <a:ext uri="{FF2B5EF4-FFF2-40B4-BE49-F238E27FC236}">
                <a16:creationId xmlns:a16="http://schemas.microsoft.com/office/drawing/2014/main" id="{B0BB3BF7-FFD3-1F39-473A-E41D337A1F6D}"/>
              </a:ext>
            </a:extLst>
          </p:cNvPr>
          <p:cNvSpPr/>
          <p:nvPr/>
        </p:nvSpPr>
        <p:spPr>
          <a:xfrm>
            <a:off x="737235" y="671274"/>
            <a:ext cx="13155930" cy="991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latin typeface="Cabin" panose="020B0604020202020204" charset="0"/>
                <a:ea typeface="Unbounded" pitchFamily="34" charset="-122"/>
                <a:cs typeface="Unbounded" pitchFamily="34" charset="-120"/>
              </a:rPr>
              <a:t>Exploring Data Structure: Dimensionality Reduction &amp; Clustering</a:t>
            </a:r>
            <a:endParaRPr lang="en-US" sz="3100" b="1" dirty="0">
              <a:latin typeface="Cabin" panose="020B0604020202020204" charset="0"/>
            </a:endParaRPr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2E27A468-85B4-8FBC-27B5-44D012C152A1}"/>
              </a:ext>
            </a:extLst>
          </p:cNvPr>
          <p:cNvSpPr/>
          <p:nvPr/>
        </p:nvSpPr>
        <p:spPr>
          <a:xfrm>
            <a:off x="737235" y="1493876"/>
            <a:ext cx="13155930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latin typeface="Cabin" pitchFamily="34" charset="0"/>
                <a:ea typeface="Cabin" pitchFamily="34" charset="-122"/>
                <a:cs typeface="Cabin" pitchFamily="34" charset="-120"/>
              </a:rPr>
              <a:t>To uncover hidden structures or relationships, we employed dimensionality reduction and clustering techniques.</a:t>
            </a:r>
            <a:endParaRPr lang="en-US" sz="1650" dirty="0"/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D3826B22-5473-DF65-16A2-73F32FB2D389}"/>
              </a:ext>
            </a:extLst>
          </p:cNvPr>
          <p:cNvSpPr/>
          <p:nvPr/>
        </p:nvSpPr>
        <p:spPr>
          <a:xfrm>
            <a:off x="737235" y="2067757"/>
            <a:ext cx="4244816" cy="631865"/>
          </a:xfrm>
          <a:prstGeom prst="roundRect">
            <a:avLst>
              <a:gd name="adj" fmla="val 480077"/>
            </a:avLst>
          </a:prstGeom>
          <a:solidFill>
            <a:srgbClr val="002060"/>
          </a:solidFill>
          <a:ln/>
        </p:spPr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A6A71F23-0303-59A7-5FCA-AAB785DB7A5C}"/>
              </a:ext>
            </a:extLst>
          </p:cNvPr>
          <p:cNvSpPr/>
          <p:nvPr/>
        </p:nvSpPr>
        <p:spPr>
          <a:xfrm>
            <a:off x="2701647" y="2186224"/>
            <a:ext cx="315873" cy="394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50" dirty="0">
                <a:solidFill>
                  <a:schemeClr val="bg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2450" dirty="0">
              <a:solidFill>
                <a:schemeClr val="bg1"/>
              </a:solidFill>
            </a:endParaRPr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F535359A-54A1-17C0-7B89-58B2F71CF019}"/>
              </a:ext>
            </a:extLst>
          </p:cNvPr>
          <p:cNvSpPr/>
          <p:nvPr/>
        </p:nvSpPr>
        <p:spPr>
          <a:xfrm>
            <a:off x="947857" y="2910243"/>
            <a:ext cx="3747016" cy="30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Dimensionality Reduction</a:t>
            </a:r>
            <a:endParaRPr lang="en-US" sz="1950" dirty="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896D3D09-EE2B-3FAE-FC6E-71E477F5E06B}"/>
              </a:ext>
            </a:extLst>
          </p:cNvPr>
          <p:cNvSpPr/>
          <p:nvPr/>
        </p:nvSpPr>
        <p:spPr>
          <a:xfrm>
            <a:off x="947857" y="3346369"/>
            <a:ext cx="3823573" cy="1010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latin typeface="Cabin" pitchFamily="34" charset="0"/>
                <a:ea typeface="Cabin" pitchFamily="34" charset="-122"/>
                <a:cs typeface="Cabin" pitchFamily="34" charset="-120"/>
              </a:rPr>
              <a:t>PCA:</a:t>
            </a:r>
            <a:r>
              <a:rPr lang="en-US" sz="1650" dirty="0">
                <a:latin typeface="Cabin" pitchFamily="34" charset="0"/>
                <a:ea typeface="Cabin" pitchFamily="34" charset="-122"/>
                <a:cs typeface="Cabin" pitchFamily="34" charset="-120"/>
              </a:rPr>
              <a:t> Best component count was approximately 6, capturing limited variance.</a:t>
            </a:r>
            <a:endParaRPr lang="en-US" sz="1650" dirty="0"/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FB382285-A0C5-5156-C959-819C61E1DCFA}"/>
              </a:ext>
            </a:extLst>
          </p:cNvPr>
          <p:cNvSpPr/>
          <p:nvPr/>
        </p:nvSpPr>
        <p:spPr>
          <a:xfrm>
            <a:off x="947857" y="4483535"/>
            <a:ext cx="3823573" cy="673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latin typeface="Cabin" pitchFamily="34" charset="0"/>
                <a:ea typeface="Cabin" pitchFamily="34" charset="-122"/>
                <a:cs typeface="Cabin" pitchFamily="34" charset="-120"/>
              </a:rPr>
              <a:t>t-SNE:</a:t>
            </a:r>
            <a:r>
              <a:rPr lang="en-US" sz="1650" dirty="0">
                <a:latin typeface="Cabin" pitchFamily="34" charset="0"/>
                <a:ea typeface="Cabin" pitchFamily="34" charset="-122"/>
                <a:cs typeface="Cabin" pitchFamily="34" charset="-120"/>
              </a:rPr>
              <a:t> Produced a 3D embedding for visualization, offering some local structure.</a:t>
            </a:r>
            <a:endParaRPr lang="en-US" sz="1650" dirty="0"/>
          </a:p>
        </p:txBody>
      </p:sp>
      <p:sp>
        <p:nvSpPr>
          <p:cNvPr id="35" name="Text 7">
            <a:extLst>
              <a:ext uri="{FF2B5EF4-FFF2-40B4-BE49-F238E27FC236}">
                <a16:creationId xmlns:a16="http://schemas.microsoft.com/office/drawing/2014/main" id="{DC95574E-3B83-B2A5-1029-FA0884E1983C}"/>
              </a:ext>
            </a:extLst>
          </p:cNvPr>
          <p:cNvSpPr/>
          <p:nvPr/>
        </p:nvSpPr>
        <p:spPr>
          <a:xfrm>
            <a:off x="947857" y="5703792"/>
            <a:ext cx="3823573" cy="1010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latin typeface="Cabin" pitchFamily="34" charset="0"/>
                <a:ea typeface="Cabin" pitchFamily="34" charset="-122"/>
                <a:cs typeface="Cabin" pitchFamily="34" charset="-120"/>
              </a:rPr>
              <a:t>UMAP:</a:t>
            </a:r>
            <a:r>
              <a:rPr lang="en-US" sz="1650" dirty="0">
                <a:latin typeface="Cabin" pitchFamily="34" charset="0"/>
                <a:ea typeface="Cabin" pitchFamily="34" charset="-122"/>
                <a:cs typeface="Cabin" pitchFamily="34" charset="-120"/>
              </a:rPr>
              <a:t> Showed slightly better structure than PCA/t-SNE, but overall data randomness persisted.</a:t>
            </a:r>
            <a:endParaRPr lang="en-US" sz="1650" dirty="0"/>
          </a:p>
        </p:txBody>
      </p:sp>
      <p:sp>
        <p:nvSpPr>
          <p:cNvPr id="36" name="Shape 8">
            <a:extLst>
              <a:ext uri="{FF2B5EF4-FFF2-40B4-BE49-F238E27FC236}">
                <a16:creationId xmlns:a16="http://schemas.microsoft.com/office/drawing/2014/main" id="{CCA069B6-596F-CEFA-8E2D-FFD065A1F28C}"/>
              </a:ext>
            </a:extLst>
          </p:cNvPr>
          <p:cNvSpPr/>
          <p:nvPr/>
        </p:nvSpPr>
        <p:spPr>
          <a:xfrm>
            <a:off x="5192673" y="2067757"/>
            <a:ext cx="4244935" cy="631865"/>
          </a:xfrm>
          <a:prstGeom prst="roundRect">
            <a:avLst>
              <a:gd name="adj" fmla="val 480077"/>
            </a:avLst>
          </a:prstGeom>
          <a:solidFill>
            <a:srgbClr val="002060"/>
          </a:solidFill>
          <a:ln/>
        </p:spPr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A29F7499-1C38-8FD3-B1D9-94E9BEA6373A}"/>
              </a:ext>
            </a:extLst>
          </p:cNvPr>
          <p:cNvSpPr/>
          <p:nvPr/>
        </p:nvSpPr>
        <p:spPr>
          <a:xfrm>
            <a:off x="7157204" y="2186224"/>
            <a:ext cx="315873" cy="394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50" dirty="0">
                <a:solidFill>
                  <a:schemeClr val="bg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2450" dirty="0">
              <a:solidFill>
                <a:schemeClr val="bg1"/>
              </a:solidFill>
            </a:endParaRPr>
          </a:p>
        </p:txBody>
      </p:sp>
      <p:sp>
        <p:nvSpPr>
          <p:cNvPr id="38" name="Text 10">
            <a:extLst>
              <a:ext uri="{FF2B5EF4-FFF2-40B4-BE49-F238E27FC236}">
                <a16:creationId xmlns:a16="http://schemas.microsoft.com/office/drawing/2014/main" id="{DA5EAD04-A163-115F-CF88-F0F0E431EE91}"/>
              </a:ext>
            </a:extLst>
          </p:cNvPr>
          <p:cNvSpPr/>
          <p:nvPr/>
        </p:nvSpPr>
        <p:spPr>
          <a:xfrm>
            <a:off x="5403294" y="2910243"/>
            <a:ext cx="3034665" cy="30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Clustering (K-Means)</a:t>
            </a:r>
            <a:endParaRPr lang="en-US" sz="1950" dirty="0"/>
          </a:p>
        </p:txBody>
      </p:sp>
      <p:sp>
        <p:nvSpPr>
          <p:cNvPr id="39" name="Text 11">
            <a:extLst>
              <a:ext uri="{FF2B5EF4-FFF2-40B4-BE49-F238E27FC236}">
                <a16:creationId xmlns:a16="http://schemas.microsoft.com/office/drawing/2014/main" id="{4C67FD87-9813-A2DC-D0ED-9DDCBF6836A8}"/>
              </a:ext>
            </a:extLst>
          </p:cNvPr>
          <p:cNvSpPr/>
          <p:nvPr/>
        </p:nvSpPr>
        <p:spPr>
          <a:xfrm>
            <a:off x="5403294" y="3346369"/>
            <a:ext cx="3823692" cy="673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latin typeface="Cabin" pitchFamily="34" charset="0"/>
                <a:ea typeface="Cabin" pitchFamily="34" charset="-122"/>
                <a:cs typeface="Cabin" pitchFamily="34" charset="-120"/>
              </a:rPr>
              <a:t>PCA-based:</a:t>
            </a:r>
            <a:r>
              <a:rPr lang="en-US" sz="1650" dirty="0">
                <a:latin typeface="Cabin" pitchFamily="34" charset="0"/>
                <a:ea typeface="Cabin" pitchFamily="34" charset="-122"/>
                <a:cs typeface="Cabin" pitchFamily="34" charset="-120"/>
              </a:rPr>
              <a:t> Best clusters identified were 2, but with low separability.</a:t>
            </a:r>
            <a:endParaRPr lang="en-US" sz="1650" dirty="0"/>
          </a:p>
        </p:txBody>
      </p:sp>
      <p:sp>
        <p:nvSpPr>
          <p:cNvPr id="40" name="Text 12">
            <a:extLst>
              <a:ext uri="{FF2B5EF4-FFF2-40B4-BE49-F238E27FC236}">
                <a16:creationId xmlns:a16="http://schemas.microsoft.com/office/drawing/2014/main" id="{76522CD7-0214-BE47-0429-A19B1BC0F5FD}"/>
              </a:ext>
            </a:extLst>
          </p:cNvPr>
          <p:cNvSpPr/>
          <p:nvPr/>
        </p:nvSpPr>
        <p:spPr>
          <a:xfrm>
            <a:off x="5403294" y="4146588"/>
            <a:ext cx="3823692" cy="673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latin typeface="Cabin" pitchFamily="34" charset="0"/>
                <a:ea typeface="Cabin" pitchFamily="34" charset="-122"/>
                <a:cs typeface="Cabin" pitchFamily="34" charset="-120"/>
              </a:rPr>
              <a:t>t-SNE-based:</a:t>
            </a:r>
            <a:r>
              <a:rPr lang="en-US" sz="1650" dirty="0">
                <a:latin typeface="Cabin" pitchFamily="34" charset="0"/>
                <a:ea typeface="Cabin" pitchFamily="34" charset="-122"/>
                <a:cs typeface="Cabin" pitchFamily="34" charset="-120"/>
              </a:rPr>
              <a:t> Best clusters identified were 3.</a:t>
            </a:r>
            <a:endParaRPr lang="en-US" sz="1650" dirty="0"/>
          </a:p>
        </p:txBody>
      </p:sp>
      <p:sp>
        <p:nvSpPr>
          <p:cNvPr id="41" name="Text 13">
            <a:extLst>
              <a:ext uri="{FF2B5EF4-FFF2-40B4-BE49-F238E27FC236}">
                <a16:creationId xmlns:a16="http://schemas.microsoft.com/office/drawing/2014/main" id="{80483032-1427-F255-09DF-65022A3F4554}"/>
              </a:ext>
            </a:extLst>
          </p:cNvPr>
          <p:cNvSpPr/>
          <p:nvPr/>
        </p:nvSpPr>
        <p:spPr>
          <a:xfrm>
            <a:off x="5403294" y="4946807"/>
            <a:ext cx="3823692" cy="673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latin typeface="Cabin" pitchFamily="34" charset="0"/>
                <a:ea typeface="Cabin" pitchFamily="34" charset="-122"/>
                <a:cs typeface="Cabin" pitchFamily="34" charset="-120"/>
              </a:rPr>
              <a:t>UMAP-based:</a:t>
            </a:r>
            <a:r>
              <a:rPr lang="en-US" sz="1650" dirty="0">
                <a:latin typeface="Cabin" pitchFamily="34" charset="0"/>
                <a:ea typeface="Cabin" pitchFamily="34" charset="-122"/>
                <a:cs typeface="Cabin" pitchFamily="34" charset="-120"/>
              </a:rPr>
              <a:t> Best clusters identified were 3.</a:t>
            </a:r>
            <a:endParaRPr lang="en-US" sz="1650" dirty="0"/>
          </a:p>
        </p:txBody>
      </p:sp>
      <p:sp>
        <p:nvSpPr>
          <p:cNvPr id="42" name="Text 14">
            <a:extLst>
              <a:ext uri="{FF2B5EF4-FFF2-40B4-BE49-F238E27FC236}">
                <a16:creationId xmlns:a16="http://schemas.microsoft.com/office/drawing/2014/main" id="{29973FE3-1BD4-D44E-2638-68D1F8615405}"/>
              </a:ext>
            </a:extLst>
          </p:cNvPr>
          <p:cNvSpPr/>
          <p:nvPr/>
        </p:nvSpPr>
        <p:spPr>
          <a:xfrm>
            <a:off x="5403294" y="5747026"/>
            <a:ext cx="3823692" cy="673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latin typeface="Cabin" pitchFamily="34" charset="0"/>
                <a:ea typeface="Cabin" pitchFamily="34" charset="-122"/>
                <a:cs typeface="Cabin" pitchFamily="34" charset="-120"/>
              </a:rPr>
              <a:t>Overall:</a:t>
            </a:r>
            <a:r>
              <a:rPr lang="en-US" sz="1650" dirty="0">
                <a:latin typeface="Cabin" pitchFamily="34" charset="0"/>
                <a:ea typeface="Cabin" pitchFamily="34" charset="-122"/>
                <a:cs typeface="Cabin" pitchFamily="34" charset="-120"/>
              </a:rPr>
              <a:t> Clusters were not meaningful and lacked clear differentiation.</a:t>
            </a:r>
            <a:endParaRPr lang="en-US" sz="1650" dirty="0"/>
          </a:p>
        </p:txBody>
      </p:sp>
      <p:sp>
        <p:nvSpPr>
          <p:cNvPr id="43" name="Shape 15">
            <a:extLst>
              <a:ext uri="{FF2B5EF4-FFF2-40B4-BE49-F238E27FC236}">
                <a16:creationId xmlns:a16="http://schemas.microsoft.com/office/drawing/2014/main" id="{17C403BE-81F0-2912-6C4A-2CDF487FCA82}"/>
              </a:ext>
            </a:extLst>
          </p:cNvPr>
          <p:cNvSpPr/>
          <p:nvPr/>
        </p:nvSpPr>
        <p:spPr>
          <a:xfrm>
            <a:off x="9648230" y="2067757"/>
            <a:ext cx="4244816" cy="631865"/>
          </a:xfrm>
          <a:prstGeom prst="roundRect">
            <a:avLst>
              <a:gd name="adj" fmla="val 480077"/>
            </a:avLst>
          </a:prstGeom>
          <a:solidFill>
            <a:srgbClr val="002060"/>
          </a:solidFill>
          <a:ln/>
        </p:spPr>
      </p:sp>
      <p:sp>
        <p:nvSpPr>
          <p:cNvPr id="44" name="Text 16">
            <a:extLst>
              <a:ext uri="{FF2B5EF4-FFF2-40B4-BE49-F238E27FC236}">
                <a16:creationId xmlns:a16="http://schemas.microsoft.com/office/drawing/2014/main" id="{213ACC75-4829-BFD5-DBC0-4DE3B5476CEA}"/>
              </a:ext>
            </a:extLst>
          </p:cNvPr>
          <p:cNvSpPr/>
          <p:nvPr/>
        </p:nvSpPr>
        <p:spPr>
          <a:xfrm>
            <a:off x="11612642" y="2186224"/>
            <a:ext cx="315873" cy="394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50" dirty="0">
                <a:solidFill>
                  <a:schemeClr val="bg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2450" dirty="0">
              <a:solidFill>
                <a:schemeClr val="bg1"/>
              </a:solidFill>
            </a:endParaRPr>
          </a:p>
        </p:txBody>
      </p:sp>
      <p:sp>
        <p:nvSpPr>
          <p:cNvPr id="45" name="Text 17">
            <a:extLst>
              <a:ext uri="{FF2B5EF4-FFF2-40B4-BE49-F238E27FC236}">
                <a16:creationId xmlns:a16="http://schemas.microsoft.com/office/drawing/2014/main" id="{35F3A40E-2A82-ECE1-198E-DF42F61EC8CF}"/>
              </a:ext>
            </a:extLst>
          </p:cNvPr>
          <p:cNvSpPr/>
          <p:nvPr/>
        </p:nvSpPr>
        <p:spPr>
          <a:xfrm>
            <a:off x="9858851" y="2910243"/>
            <a:ext cx="3052286" cy="30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Clustering (DBSCAN)</a:t>
            </a:r>
            <a:endParaRPr lang="en-US" sz="1950" dirty="0"/>
          </a:p>
        </p:txBody>
      </p:sp>
      <p:sp>
        <p:nvSpPr>
          <p:cNvPr id="46" name="Text 18">
            <a:extLst>
              <a:ext uri="{FF2B5EF4-FFF2-40B4-BE49-F238E27FC236}">
                <a16:creationId xmlns:a16="http://schemas.microsoft.com/office/drawing/2014/main" id="{9C8ACA32-2868-B94F-32CC-B7C78F2DBB9C}"/>
              </a:ext>
            </a:extLst>
          </p:cNvPr>
          <p:cNvSpPr/>
          <p:nvPr/>
        </p:nvSpPr>
        <p:spPr>
          <a:xfrm>
            <a:off x="9858851" y="3346369"/>
            <a:ext cx="3823573" cy="1010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latin typeface="Cabin" pitchFamily="34" charset="0"/>
                <a:ea typeface="Cabin" pitchFamily="34" charset="-122"/>
                <a:cs typeface="Cabin" pitchFamily="34" charset="-120"/>
              </a:rPr>
              <a:t>PCA:</a:t>
            </a:r>
            <a:r>
              <a:rPr lang="en-US" sz="1650" dirty="0">
                <a:latin typeface="Cabin" pitchFamily="34" charset="0"/>
                <a:ea typeface="Cabin" pitchFamily="34" charset="-122"/>
                <a:cs typeface="Cabin" pitchFamily="34" charset="-120"/>
              </a:rPr>
              <a:t> Optimal parameters (eps = 0.222, min_samples = 3) yielded minimal stable clusters.</a:t>
            </a:r>
            <a:endParaRPr lang="en-US" sz="1650" dirty="0"/>
          </a:p>
        </p:txBody>
      </p:sp>
      <p:sp>
        <p:nvSpPr>
          <p:cNvPr id="47" name="Text 19">
            <a:extLst>
              <a:ext uri="{FF2B5EF4-FFF2-40B4-BE49-F238E27FC236}">
                <a16:creationId xmlns:a16="http://schemas.microsoft.com/office/drawing/2014/main" id="{5D691CA6-D028-43F9-5C6E-A5CA17D89B5D}"/>
              </a:ext>
            </a:extLst>
          </p:cNvPr>
          <p:cNvSpPr/>
          <p:nvPr/>
        </p:nvSpPr>
        <p:spPr>
          <a:xfrm>
            <a:off x="9858851" y="4483535"/>
            <a:ext cx="3823573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latin typeface="Cabin" pitchFamily="34" charset="0"/>
                <a:ea typeface="Cabin" pitchFamily="34" charset="-122"/>
                <a:cs typeface="Cabin" pitchFamily="34" charset="-120"/>
              </a:rPr>
              <a:t>t-SNE:</a:t>
            </a:r>
            <a:r>
              <a:rPr lang="en-US" sz="1650" dirty="0">
                <a:latin typeface="Cabin" pitchFamily="34" charset="0"/>
                <a:ea typeface="Cabin" pitchFamily="34" charset="-122"/>
                <a:cs typeface="Cabin" pitchFamily="34" charset="-120"/>
              </a:rPr>
              <a:t> Optimal eps ≈ 3.8.</a:t>
            </a:r>
            <a:endParaRPr lang="en-US" sz="1650" dirty="0"/>
          </a:p>
        </p:txBody>
      </p:sp>
      <p:sp>
        <p:nvSpPr>
          <p:cNvPr id="48" name="Text 20">
            <a:extLst>
              <a:ext uri="{FF2B5EF4-FFF2-40B4-BE49-F238E27FC236}">
                <a16:creationId xmlns:a16="http://schemas.microsoft.com/office/drawing/2014/main" id="{3C0D413A-2BF9-A132-24AD-EEEAEF407AA2}"/>
              </a:ext>
            </a:extLst>
          </p:cNvPr>
          <p:cNvSpPr/>
          <p:nvPr/>
        </p:nvSpPr>
        <p:spPr>
          <a:xfrm>
            <a:off x="9858851" y="4946807"/>
            <a:ext cx="3823573" cy="673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latin typeface="Cabin" pitchFamily="34" charset="0"/>
                <a:ea typeface="Cabin" pitchFamily="34" charset="-122"/>
                <a:cs typeface="Cabin" pitchFamily="34" charset="-120"/>
              </a:rPr>
              <a:t>UMAP:</a:t>
            </a:r>
            <a:r>
              <a:rPr lang="en-US" sz="1650" dirty="0">
                <a:latin typeface="Cabin" pitchFamily="34" charset="0"/>
                <a:ea typeface="Cabin" pitchFamily="34" charset="-122"/>
                <a:cs typeface="Cabin" pitchFamily="34" charset="-120"/>
              </a:rPr>
              <a:t> Optimal parameters (eps ≈ 0.292, min_samples = 6).</a:t>
            </a:r>
            <a:endParaRPr lang="en-US" sz="1650" dirty="0"/>
          </a:p>
        </p:txBody>
      </p:sp>
      <p:sp>
        <p:nvSpPr>
          <p:cNvPr id="49" name="Text 21">
            <a:extLst>
              <a:ext uri="{FF2B5EF4-FFF2-40B4-BE49-F238E27FC236}">
                <a16:creationId xmlns:a16="http://schemas.microsoft.com/office/drawing/2014/main" id="{A96FCC06-242D-7F23-98FE-364E1B44B444}"/>
              </a:ext>
            </a:extLst>
          </p:cNvPr>
          <p:cNvSpPr/>
          <p:nvPr/>
        </p:nvSpPr>
        <p:spPr>
          <a:xfrm>
            <a:off x="9858851" y="5747026"/>
            <a:ext cx="3823573" cy="1010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latin typeface="Cabin" pitchFamily="34" charset="0"/>
                <a:ea typeface="Cabin" pitchFamily="34" charset="-122"/>
                <a:cs typeface="Cabin" pitchFamily="34" charset="-120"/>
              </a:rPr>
              <a:t>Overall:</a:t>
            </a:r>
            <a:r>
              <a:rPr lang="en-US" sz="1650" dirty="0">
                <a:latin typeface="Cabin" pitchFamily="34" charset="0"/>
                <a:ea typeface="Cabin" pitchFamily="34" charset="-122"/>
                <a:cs typeface="Cabin" pitchFamily="34" charset="-120"/>
              </a:rPr>
              <a:t> DBSCAN generated many noise points and few stable clusters, further confirming data's high randomness.</a:t>
            </a:r>
            <a:endParaRPr lang="en-US" sz="165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FD7E8C-56D8-C41B-BFE4-83426CED2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6140" y="7714389"/>
            <a:ext cx="2474259" cy="515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648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B4324-790A-4F65-A8B9-A1E749400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49BE4BF-0D92-B900-BB9B-23037908F281}"/>
              </a:ext>
            </a:extLst>
          </p:cNvPr>
          <p:cNvSpPr/>
          <p:nvPr/>
        </p:nvSpPr>
        <p:spPr>
          <a:xfrm>
            <a:off x="533055" y="329093"/>
            <a:ext cx="9097325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3600" b="1" dirty="0">
                <a:latin typeface="Cabin" panose="020B0604020202020204" charset="0"/>
                <a:ea typeface="Calibri" panose="020F0502020204030204" pitchFamily="34" charset="0"/>
                <a:cs typeface="Calibri" panose="020F0502020204030204" pitchFamily="34" charset="0"/>
              </a:rPr>
              <a:t>K-means</a:t>
            </a: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22678683-ED7C-A185-5256-A27280EB3DE8}"/>
              </a:ext>
            </a:extLst>
          </p:cNvPr>
          <p:cNvSpPr/>
          <p:nvPr/>
        </p:nvSpPr>
        <p:spPr>
          <a:xfrm>
            <a:off x="377255" y="910688"/>
            <a:ext cx="2803277" cy="631865"/>
          </a:xfrm>
          <a:prstGeom prst="roundRect">
            <a:avLst>
              <a:gd name="adj" fmla="val 480077"/>
            </a:avLst>
          </a:prstGeom>
          <a:solidFill>
            <a:srgbClr val="304755"/>
          </a:solidFill>
          <a:ln/>
        </p:spPr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0BD71377-09E8-A071-2AC4-A6865964E1BD}"/>
              </a:ext>
            </a:extLst>
          </p:cNvPr>
          <p:cNvSpPr/>
          <p:nvPr/>
        </p:nvSpPr>
        <p:spPr>
          <a:xfrm>
            <a:off x="1409065" y="1074489"/>
            <a:ext cx="315873" cy="394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50" b="1" dirty="0">
                <a:solidFill>
                  <a:schemeClr val="bg1"/>
                </a:solidFill>
                <a:latin typeface="Cabin" panose="020B0604020202020204" charset="0"/>
              </a:rPr>
              <a:t>PCA</a:t>
            </a:r>
          </a:p>
        </p:txBody>
      </p:sp>
      <p:sp>
        <p:nvSpPr>
          <p:cNvPr id="25" name="Shape 15">
            <a:extLst>
              <a:ext uri="{FF2B5EF4-FFF2-40B4-BE49-F238E27FC236}">
                <a16:creationId xmlns:a16="http://schemas.microsoft.com/office/drawing/2014/main" id="{1F2355EE-9D8B-DA3C-4360-08664D8CBA1D}"/>
              </a:ext>
            </a:extLst>
          </p:cNvPr>
          <p:cNvSpPr/>
          <p:nvPr/>
        </p:nvSpPr>
        <p:spPr>
          <a:xfrm>
            <a:off x="9630380" y="814284"/>
            <a:ext cx="4073555" cy="631865"/>
          </a:xfrm>
          <a:prstGeom prst="roundRect">
            <a:avLst>
              <a:gd name="adj" fmla="val 480077"/>
            </a:avLst>
          </a:prstGeom>
          <a:solidFill>
            <a:srgbClr val="304755"/>
          </a:solidFill>
          <a:ln/>
        </p:spPr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AC38C5DD-FFCD-C463-69BE-67E562D6C94C}"/>
              </a:ext>
            </a:extLst>
          </p:cNvPr>
          <p:cNvSpPr/>
          <p:nvPr/>
        </p:nvSpPr>
        <p:spPr>
          <a:xfrm>
            <a:off x="10994349" y="963363"/>
            <a:ext cx="3001768" cy="394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50"/>
              </a:lnSpc>
            </a:pPr>
            <a:r>
              <a:rPr lang="en-US" sz="2450" b="1" dirty="0">
                <a:solidFill>
                  <a:schemeClr val="bg1"/>
                </a:solidFill>
                <a:latin typeface="Cabin" panose="020B0604020202020204" charset="0"/>
              </a:rPr>
              <a:t>UMAP</a:t>
            </a:r>
          </a:p>
        </p:txBody>
      </p:sp>
      <p:sp>
        <p:nvSpPr>
          <p:cNvPr id="38" name="Shape 15">
            <a:extLst>
              <a:ext uri="{FF2B5EF4-FFF2-40B4-BE49-F238E27FC236}">
                <a16:creationId xmlns:a16="http://schemas.microsoft.com/office/drawing/2014/main" id="{3DD86A69-9920-2FC3-4550-6ABAC3618CC0}"/>
              </a:ext>
            </a:extLst>
          </p:cNvPr>
          <p:cNvSpPr/>
          <p:nvPr/>
        </p:nvSpPr>
        <p:spPr>
          <a:xfrm>
            <a:off x="4934753" y="864101"/>
            <a:ext cx="3581351" cy="631865"/>
          </a:xfrm>
          <a:prstGeom prst="roundRect">
            <a:avLst>
              <a:gd name="adj" fmla="val 480077"/>
            </a:avLst>
          </a:prstGeom>
          <a:solidFill>
            <a:srgbClr val="304755"/>
          </a:solidFill>
          <a:ln/>
        </p:spPr>
      </p:sp>
      <p:sp>
        <p:nvSpPr>
          <p:cNvPr id="39" name="Text 16">
            <a:extLst>
              <a:ext uri="{FF2B5EF4-FFF2-40B4-BE49-F238E27FC236}">
                <a16:creationId xmlns:a16="http://schemas.microsoft.com/office/drawing/2014/main" id="{9CFC4A5F-CDF2-89AF-D253-96CB3618E890}"/>
              </a:ext>
            </a:extLst>
          </p:cNvPr>
          <p:cNvSpPr/>
          <p:nvPr/>
        </p:nvSpPr>
        <p:spPr>
          <a:xfrm>
            <a:off x="6126636" y="982568"/>
            <a:ext cx="3001768" cy="394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50"/>
              </a:lnSpc>
            </a:pPr>
            <a:r>
              <a:rPr lang="en-US" sz="2450" b="1" dirty="0">
                <a:solidFill>
                  <a:schemeClr val="bg1"/>
                </a:solidFill>
                <a:latin typeface="Cabin" panose="020B0604020202020204" charset="0"/>
              </a:rPr>
              <a:t>T-SNE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02CA27-642A-E309-C8AD-00DE99730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60863"/>
            <a:ext cx="4603403" cy="3362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>
            <a:extLst>
              <a:ext uri="{FF2B5EF4-FFF2-40B4-BE49-F238E27FC236}">
                <a16:creationId xmlns:a16="http://schemas.microsoft.com/office/drawing/2014/main" id="{3FE99E46-5FDE-11B5-901E-122ADC9E0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1793" y="1467688"/>
            <a:ext cx="4226471" cy="3307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>
            <a:extLst>
              <a:ext uri="{FF2B5EF4-FFF2-40B4-BE49-F238E27FC236}">
                <a16:creationId xmlns:a16="http://schemas.microsoft.com/office/drawing/2014/main" id="{D786BAFC-E15F-C9E5-B277-256B0A702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4810" y="1358293"/>
            <a:ext cx="4350171" cy="3416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B4EA4332-07F0-6A5F-6788-D962A7630531}"/>
              </a:ext>
            </a:extLst>
          </p:cNvPr>
          <p:cNvSpPr/>
          <p:nvPr/>
        </p:nvSpPr>
        <p:spPr>
          <a:xfrm>
            <a:off x="418452" y="5161625"/>
            <a:ext cx="9097325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3600" b="1" dirty="0">
                <a:latin typeface="Cabin" panose="020B0604020202020204" charset="0"/>
                <a:ea typeface="Calibri" panose="020F0502020204030204" pitchFamily="34" charset="0"/>
                <a:cs typeface="Calibri" panose="020F0502020204030204" pitchFamily="34" charset="0"/>
              </a:rPr>
              <a:t>DBSCAN</a:t>
            </a:r>
          </a:p>
        </p:txBody>
      </p:sp>
      <p:pic>
        <p:nvPicPr>
          <p:cNvPr id="8" name="Picture 10">
            <a:extLst>
              <a:ext uri="{FF2B5EF4-FFF2-40B4-BE49-F238E27FC236}">
                <a16:creationId xmlns:a16="http://schemas.microsoft.com/office/drawing/2014/main" id="{8996C9E4-A0A2-7B0E-7743-95E8DCCE2E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58" y="5591743"/>
            <a:ext cx="4367521" cy="2593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2">
            <a:extLst>
              <a:ext uri="{FF2B5EF4-FFF2-40B4-BE49-F238E27FC236}">
                <a16:creationId xmlns:a16="http://schemas.microsoft.com/office/drawing/2014/main" id="{00D71144-6274-B925-10D5-6E265E7C9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8658" y="5350093"/>
            <a:ext cx="4477119" cy="2677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>
            <a:extLst>
              <a:ext uri="{FF2B5EF4-FFF2-40B4-BE49-F238E27FC236}">
                <a16:creationId xmlns:a16="http://schemas.microsoft.com/office/drawing/2014/main" id="{CD39A5E3-02AB-789A-B3F9-A02EBE2160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6823" y="5140029"/>
            <a:ext cx="4667914" cy="3018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2514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382" y="604480"/>
            <a:ext cx="5127188" cy="517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700"/>
              </a:lnSpc>
            </a:pPr>
            <a:r>
              <a:rPr lang="en-US" sz="3600" b="1" dirty="0">
                <a:latin typeface="Cabin" panose="020B0604020202020204" charset="0"/>
                <a:ea typeface="Unbounded" pitchFamily="34" charset="-122"/>
                <a:cs typeface="Cabin" panose="020B0604020202020204" charset="0"/>
              </a:rPr>
              <a:t>Strategic Recommendations for Enhanced Social Media Analytics</a:t>
            </a:r>
            <a:endParaRPr lang="en-US" sz="3600" b="1" dirty="0">
              <a:latin typeface="Cabin" panose="020B0604020202020204" charset="0"/>
              <a:cs typeface="Cabin" panose="020B0604020202020204" charset="0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7820" y="1470103"/>
            <a:ext cx="6752580" cy="6752580"/>
          </a:xfrm>
          <a:prstGeom prst="rect">
            <a:avLst/>
          </a:prstGeom>
        </p:spPr>
      </p:pic>
      <p:sp>
        <p:nvSpPr>
          <p:cNvPr id="12" name="Shape 3">
            <a:extLst>
              <a:ext uri="{FF2B5EF4-FFF2-40B4-BE49-F238E27FC236}">
                <a16:creationId xmlns:a16="http://schemas.microsoft.com/office/drawing/2014/main" id="{A6470D00-B37B-5099-276B-AC33DBFAE854}"/>
              </a:ext>
            </a:extLst>
          </p:cNvPr>
          <p:cNvSpPr/>
          <p:nvPr/>
        </p:nvSpPr>
        <p:spPr>
          <a:xfrm>
            <a:off x="528519" y="1741268"/>
            <a:ext cx="6510933" cy="2286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EB360E18-CA69-57CE-E3C5-DB6B60CF8886}"/>
              </a:ext>
            </a:extLst>
          </p:cNvPr>
          <p:cNvSpPr/>
          <p:nvPr/>
        </p:nvSpPr>
        <p:spPr>
          <a:xfrm>
            <a:off x="528519" y="1887477"/>
            <a:ext cx="2567702" cy="29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Collect More Data</a:t>
            </a:r>
            <a:endParaRPr lang="en-US" sz="185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FE8F2E24-83D9-064C-9CE9-8E553974CE56}"/>
              </a:ext>
            </a:extLst>
          </p:cNvPr>
          <p:cNvSpPr/>
          <p:nvPr/>
        </p:nvSpPr>
        <p:spPr>
          <a:xfrm>
            <a:off x="528519" y="2303719"/>
            <a:ext cx="6510933" cy="643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latin typeface="Cabin" pitchFamily="34" charset="0"/>
                <a:ea typeface="Cabin" pitchFamily="34" charset="-122"/>
                <a:cs typeface="Cabin" pitchFamily="34" charset="-120"/>
              </a:rPr>
              <a:t>The current dataset is too small and random to infer reliable patterns or build robust models. Expand data collection scope and volume.</a:t>
            </a:r>
            <a:endParaRPr lang="en-US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7BED196F-CF14-605C-312E-8722BEE64896}"/>
              </a:ext>
            </a:extLst>
          </p:cNvPr>
          <p:cNvSpPr/>
          <p:nvPr/>
        </p:nvSpPr>
        <p:spPr>
          <a:xfrm>
            <a:off x="528519" y="1322287"/>
            <a:ext cx="2567702" cy="29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3200" dirty="0"/>
              <a:t>01.</a:t>
            </a:r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C52DE5CF-91EE-18A1-F088-69A0EB474A47}"/>
              </a:ext>
            </a:extLst>
          </p:cNvPr>
          <p:cNvSpPr/>
          <p:nvPr/>
        </p:nvSpPr>
        <p:spPr>
          <a:xfrm>
            <a:off x="528519" y="4076393"/>
            <a:ext cx="6510933" cy="2286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DD685B46-1FFE-6967-8818-9305BCFC520E}"/>
              </a:ext>
            </a:extLst>
          </p:cNvPr>
          <p:cNvSpPr/>
          <p:nvPr/>
        </p:nvSpPr>
        <p:spPr>
          <a:xfrm>
            <a:off x="528519" y="4222602"/>
            <a:ext cx="2567702" cy="29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185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Improve Data Quality</a:t>
            </a:r>
            <a:endParaRPr lang="en-US" sz="1850" dirty="0"/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79494F04-1DBA-5A7B-5E97-72290DE4A430}"/>
              </a:ext>
            </a:extLst>
          </p:cNvPr>
          <p:cNvSpPr/>
          <p:nvPr/>
        </p:nvSpPr>
        <p:spPr>
          <a:xfrm>
            <a:off x="528519" y="4638844"/>
            <a:ext cx="6510933" cy="643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dirty="0">
                <a:latin typeface="Cabin" pitchFamily="34" charset="0"/>
                <a:ea typeface="Cabin" pitchFamily="34" charset="-122"/>
                <a:cs typeface="Cabin" pitchFamily="34" charset="-120"/>
              </a:rPr>
              <a:t>Implement stricter data validation to detect unnatural values earlier and validate platform-specific metric ranges more rigorously.</a:t>
            </a:r>
            <a:endParaRPr lang="en-US" dirty="0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CE1D50CF-D5E5-7697-C940-0B01277CAE95}"/>
              </a:ext>
            </a:extLst>
          </p:cNvPr>
          <p:cNvSpPr/>
          <p:nvPr/>
        </p:nvSpPr>
        <p:spPr>
          <a:xfrm>
            <a:off x="528519" y="3657412"/>
            <a:ext cx="2567702" cy="29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3200" dirty="0"/>
              <a:t>02.</a:t>
            </a:r>
          </a:p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C20D4E9C-4C60-4E2E-B530-F7D010B27138}"/>
              </a:ext>
            </a:extLst>
          </p:cNvPr>
          <p:cNvSpPr/>
          <p:nvPr/>
        </p:nvSpPr>
        <p:spPr>
          <a:xfrm>
            <a:off x="528519" y="6411518"/>
            <a:ext cx="6510933" cy="2286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59E5873F-CBDD-A8A4-8112-BC19943802C0}"/>
              </a:ext>
            </a:extLst>
          </p:cNvPr>
          <p:cNvSpPr/>
          <p:nvPr/>
        </p:nvSpPr>
        <p:spPr>
          <a:xfrm>
            <a:off x="528519" y="6557727"/>
            <a:ext cx="2567702" cy="29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185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Add High-Impact Features</a:t>
            </a:r>
            <a:endParaRPr lang="en-US" sz="1850" dirty="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60729744-A39F-2EAB-F18F-5F7AC2CB40F2}"/>
              </a:ext>
            </a:extLst>
          </p:cNvPr>
          <p:cNvSpPr/>
          <p:nvPr/>
        </p:nvSpPr>
        <p:spPr>
          <a:xfrm>
            <a:off x="528519" y="6973969"/>
            <a:ext cx="6510933" cy="643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dirty="0">
                <a:latin typeface="Cabin" pitchFamily="34" charset="0"/>
                <a:ea typeface="Cabin" pitchFamily="34" charset="-122"/>
                <a:cs typeface="Cabin" pitchFamily="34" charset="-120"/>
              </a:rPr>
              <a:t>Enrich the dataset with contextual features such as posting time &amp; day, content length, topic categories, hashtag quality, audience demographics, and video/visual properties.</a:t>
            </a:r>
            <a:endParaRPr lang="en-US" dirty="0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3D0ED8FB-8B3F-20E6-BB35-ED28836F710B}"/>
              </a:ext>
            </a:extLst>
          </p:cNvPr>
          <p:cNvSpPr/>
          <p:nvPr/>
        </p:nvSpPr>
        <p:spPr>
          <a:xfrm>
            <a:off x="528519" y="5992537"/>
            <a:ext cx="2567702" cy="29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3200" dirty="0"/>
              <a:t>03.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A5C1C-F135-9A80-06EE-2B6B291D3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97E5224B-EE06-87EB-01F4-DDDBF6449BF8}"/>
              </a:ext>
            </a:extLst>
          </p:cNvPr>
          <p:cNvSpPr txBox="1"/>
          <p:nvPr/>
        </p:nvSpPr>
        <p:spPr>
          <a:xfrm>
            <a:off x="7315200" y="3376572"/>
            <a:ext cx="9681883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b="1" dirty="0">
                <a:latin typeface="Cabin" panose="020B0604020202020204" charset="0"/>
              </a:rPr>
              <a:t>Thank You !</a:t>
            </a: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06B9B5C9-D5EC-C565-2C0E-8548D4548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2186DD-053F-76E3-74B9-08A1B36129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56140" y="7714389"/>
            <a:ext cx="2474259" cy="515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417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798</Words>
  <Application>Microsoft Office PowerPoint</Application>
  <PresentationFormat>Custom</PresentationFormat>
  <Paragraphs>108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Unbounded</vt:lpstr>
      <vt:lpstr>Cabin</vt:lpstr>
      <vt:lpstr>Nunito Semi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Dinod imanjith</cp:lastModifiedBy>
  <cp:revision>36</cp:revision>
  <dcterms:created xsi:type="dcterms:W3CDTF">2025-11-18T02:18:59Z</dcterms:created>
  <dcterms:modified xsi:type="dcterms:W3CDTF">2025-11-18T12:18:34Z</dcterms:modified>
</cp:coreProperties>
</file>